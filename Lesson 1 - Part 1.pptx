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63E2F"/>
    <a:srgbClr val="C7C7C7"/>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4" d="100"/>
          <a:sy n="64" d="100"/>
        </p:scale>
        <p:origin x="765"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52FF50-4026-4A1F-B46B-E6C3442D66F0}" type="datetimeFigureOut">
              <a:rPr lang="en-US" smtClean="0"/>
              <a:t>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1227226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52FF50-4026-4A1F-B46B-E6C3442D66F0}" type="datetimeFigureOut">
              <a:rPr lang="en-US" smtClean="0"/>
              <a:t>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1478068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352FF50-4026-4A1F-B46B-E6C3442D66F0}" type="datetimeFigureOut">
              <a:rPr lang="en-US" smtClean="0"/>
              <a:t>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88792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352FF50-4026-4A1F-B46B-E6C3442D66F0}" type="datetimeFigureOut">
              <a:rPr lang="en-US" smtClean="0"/>
              <a:t>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3027876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352FF50-4026-4A1F-B46B-E6C3442D66F0}" type="datetimeFigureOut">
              <a:rPr lang="en-US" smtClean="0"/>
              <a:t>11/5/2023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1398672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52FF50-4026-4A1F-B46B-E6C3442D66F0}" type="datetimeFigureOut">
              <a:rPr lang="en-US" smtClean="0"/>
              <a:t>11/5/2023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411330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52FF50-4026-4A1F-B46B-E6C3442D66F0}" type="datetimeFigureOut">
              <a:rPr lang="en-US" smtClean="0"/>
              <a:t>11/5/2023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2574195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52FF50-4026-4A1F-B46B-E6C3442D66F0}" type="datetimeFigureOut">
              <a:rPr lang="en-US" smtClean="0"/>
              <a:t>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647560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52FF50-4026-4A1F-B46B-E6C3442D66F0}" type="datetimeFigureOut">
              <a:rPr lang="en-US" smtClean="0"/>
              <a:t>11/5/2023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296078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52FF50-4026-4A1F-B46B-E6C3442D66F0}" type="datetimeFigureOut">
              <a:rPr lang="en-US" smtClean="0"/>
              <a:t>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36699550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52FF50-4026-4A1F-B46B-E6C3442D66F0}" type="datetimeFigureOut">
              <a:rPr lang="en-US" smtClean="0"/>
              <a:t>11/5/2023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FE6F76-7470-4386-AF9F-B483C07BB4B2}" type="slidenum">
              <a:rPr lang="en-US" smtClean="0"/>
              <a:t>‹#›</a:t>
            </a:fld>
            <a:endParaRPr lang="en-US"/>
          </a:p>
        </p:txBody>
      </p:sp>
    </p:spTree>
    <p:extLst>
      <p:ext uri="{BB962C8B-B14F-4D97-AF65-F5344CB8AC3E}">
        <p14:creationId xmlns:p14="http://schemas.microsoft.com/office/powerpoint/2010/main" val="3879819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lumMod val="95000"/>
              </a:schemeClr>
            </a:gs>
            <a:gs pos="46000">
              <a:schemeClr val="bg1">
                <a:lumMod val="85000"/>
              </a:schemeClr>
            </a:gs>
            <a:gs pos="81000">
              <a:schemeClr val="bg1">
                <a:lumMod val="75000"/>
              </a:schemeClr>
            </a:gs>
          </a:gsLst>
          <a:lin ang="75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52FF50-4026-4A1F-B46B-E6C3442D66F0}" type="datetimeFigureOut">
              <a:rPr lang="en-US" smtClean="0"/>
              <a:t>11/5/2023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FE6F76-7470-4386-AF9F-B483C07BB4B2}" type="slidenum">
              <a:rPr lang="en-US" smtClean="0"/>
              <a:t>‹#›</a:t>
            </a:fld>
            <a:endParaRPr lang="en-US"/>
          </a:p>
        </p:txBody>
      </p:sp>
    </p:spTree>
    <p:extLst>
      <p:ext uri="{BB962C8B-B14F-4D97-AF65-F5344CB8AC3E}">
        <p14:creationId xmlns:p14="http://schemas.microsoft.com/office/powerpoint/2010/main" val="2341885863"/>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4E33-A8F6-2020-2113-C8C9DA672C53}"/>
              </a:ext>
            </a:extLst>
          </p:cNvPr>
          <p:cNvSpPr>
            <a:spLocks noGrp="1"/>
          </p:cNvSpPr>
          <p:nvPr>
            <p:ph type="ctrTitle"/>
          </p:nvPr>
        </p:nvSpPr>
        <p:spPr>
          <a:xfrm>
            <a:off x="980606" y="1191718"/>
            <a:ext cx="10230787" cy="3859967"/>
          </a:xfrm>
        </p:spPr>
        <p:txBody>
          <a:bodyPr>
            <a:normAutofit fontScale="90000"/>
          </a:bodyPr>
          <a:lstStyle/>
          <a:p>
            <a:pPr rtl="1">
              <a:lnSpc>
                <a:spcPct val="150000"/>
              </a:lnSpc>
            </a:pPr>
            <a:r>
              <a:rPr lang="fa-IR" sz="10000" dirty="0">
                <a:latin typeface="IranNastaliq" panose="02020505000000020003" pitchFamily="18" charset="0"/>
                <a:cs typeface="IranNastaliq" panose="02020505000000020003" pitchFamily="18" charset="0"/>
              </a:rPr>
              <a:t>بسم الله الرحمن الرحیم</a:t>
            </a:r>
            <a:br>
              <a:rPr lang="en-US" dirty="0">
                <a:latin typeface="Shabnam" panose="020B0603030804020204" pitchFamily="34" charset="-78"/>
                <a:cs typeface="Shabnam" panose="020B0603030804020204" pitchFamily="34" charset="-78"/>
              </a:rPr>
            </a:br>
            <a:r>
              <a:rPr lang="fa-IR" sz="6700" dirty="0">
                <a:latin typeface="Digi An Bold" panose="02000806080000060004" pitchFamily="2" charset="-78"/>
                <a:cs typeface="Digi An Bold" panose="02000806080000060004" pitchFamily="2" charset="-78"/>
              </a:rPr>
              <a:t>فصل اول – درس اول</a:t>
            </a:r>
            <a:br>
              <a:rPr lang="fa-IR" sz="6700" dirty="0">
                <a:latin typeface="Digi An Bold" panose="02000806080000060004" pitchFamily="2" charset="-78"/>
                <a:cs typeface="Digi An Bold" panose="02000806080000060004" pitchFamily="2" charset="-78"/>
              </a:rPr>
            </a:br>
            <a:r>
              <a:rPr lang="fa-IR" sz="6700" dirty="0">
                <a:latin typeface="Digi An Bold" panose="02000806080000060004" pitchFamily="2" charset="-78"/>
                <a:cs typeface="Digi An Bold" panose="02000806080000060004" pitchFamily="2" charset="-78"/>
              </a:rPr>
              <a:t> اعداد صحیح و گویا</a:t>
            </a:r>
            <a:endParaRPr lang="en-US" sz="5000" dirty="0">
              <a:latin typeface="Digi An Bold" panose="02000806080000060004" pitchFamily="2" charset="-78"/>
              <a:cs typeface="Digi An Bold" panose="02000806080000060004" pitchFamily="2" charset="-78"/>
            </a:endParaRPr>
          </a:p>
        </p:txBody>
      </p:sp>
      <p:sp>
        <p:nvSpPr>
          <p:cNvPr id="3" name="Subtitle 2">
            <a:extLst>
              <a:ext uri="{FF2B5EF4-FFF2-40B4-BE49-F238E27FC236}">
                <a16:creationId xmlns:a16="http://schemas.microsoft.com/office/drawing/2014/main" id="{62344E65-8BA8-5982-0BC0-86B9A3B1694F}"/>
              </a:ext>
            </a:extLst>
          </p:cNvPr>
          <p:cNvSpPr>
            <a:spLocks noGrp="1"/>
          </p:cNvSpPr>
          <p:nvPr>
            <p:ph type="subTitle" idx="1"/>
          </p:nvPr>
        </p:nvSpPr>
        <p:spPr>
          <a:xfrm>
            <a:off x="1524000" y="5280937"/>
            <a:ext cx="9144000" cy="385345"/>
          </a:xfrm>
        </p:spPr>
        <p:txBody>
          <a:bodyPr>
            <a:normAutofit fontScale="92500" lnSpcReduction="10000"/>
          </a:bodyPr>
          <a:lstStyle/>
          <a:p>
            <a:r>
              <a:rPr lang="fa-IR" dirty="0">
                <a:latin typeface="Shabnam" panose="020B0603030804020204" pitchFamily="34" charset="-78"/>
                <a:cs typeface="Shabnam" panose="020B0603030804020204" pitchFamily="34" charset="-78"/>
              </a:rPr>
              <a:t>تهیه و تنظیم : محمد امین فتاحی</a:t>
            </a:r>
            <a:endParaRPr lang="en-US" dirty="0">
              <a:latin typeface="Shabnam" panose="020B0603030804020204" pitchFamily="34" charset="-78"/>
              <a:cs typeface="Shabnam" panose="020B0603030804020204" pitchFamily="34" charset="-78"/>
            </a:endParaRPr>
          </a:p>
        </p:txBody>
      </p:sp>
    </p:spTree>
    <p:extLst>
      <p:ext uri="{BB962C8B-B14F-4D97-AF65-F5344CB8AC3E}">
        <p14:creationId xmlns:p14="http://schemas.microsoft.com/office/powerpoint/2010/main" val="3205540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8" presetClass="entr" presetSubtype="0" accel="50000" fill="hold" grpId="0" nodeType="clickEffect">
                                  <p:stCondLst>
                                    <p:cond delay="0"/>
                                  </p:stCondLst>
                                  <p:iterate type="lt">
                                    <p:tmPct val="49653"/>
                                  </p:iterate>
                                  <p:childTnLst>
                                    <p:set>
                                      <p:cBhvr>
                                        <p:cTn id="11" dur="1" fill="hold">
                                          <p:stCondLst>
                                            <p:cond delay="0"/>
                                          </p:stCondLst>
                                        </p:cTn>
                                        <p:tgtEl>
                                          <p:spTgt spid="3">
                                            <p:txEl>
                                              <p:pRg st="0" end="0"/>
                                            </p:txEl>
                                          </p:spTgt>
                                        </p:tgtEl>
                                        <p:attrNameLst>
                                          <p:attrName>style.visibility</p:attrName>
                                        </p:attrNameLst>
                                      </p:cBhvr>
                                      <p:to>
                                        <p:strVal val="visible"/>
                                      </p:to>
                                    </p:set>
                                    <p:set>
                                      <p:cBhvr>
                                        <p:cTn id="12" dur="136" fill="hold">
                                          <p:stCondLst>
                                            <p:cond delay="0"/>
                                          </p:stCondLst>
                                        </p:cTn>
                                        <p:tgtEl>
                                          <p:spTgt spid="3">
                                            <p:txEl>
                                              <p:pRg st="0" end="0"/>
                                            </p:txEl>
                                          </p:spTgt>
                                        </p:tgtEl>
                                        <p:attrNameLst>
                                          <p:attrName>style.rotation</p:attrName>
                                        </p:attrNameLst>
                                      </p:cBhvr>
                                      <p:to>
                                        <p:strVal val="-45.0"/>
                                      </p:to>
                                    </p:set>
                                    <p:anim calcmode="lin" valueType="num">
                                      <p:cBhvr>
                                        <p:cTn id="13" dur="136" fill="hold">
                                          <p:stCondLst>
                                            <p:cond delay="136"/>
                                          </p:stCondLst>
                                        </p:cTn>
                                        <p:tgtEl>
                                          <p:spTgt spid="3">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14" dur="136" fill="hold">
                                          <p:stCondLst>
                                            <p:cond delay="0"/>
                                          </p:stCondLst>
                                        </p:cTn>
                                        <p:tgtEl>
                                          <p:spTgt spid="3">
                                            <p:txEl>
                                              <p:pRg st="0" end="0"/>
                                            </p:txEl>
                                          </p:spTgt>
                                        </p:tgtEl>
                                        <p:attrNameLst>
                                          <p:attrName>ppt_y</p:attrName>
                                        </p:attrNameLst>
                                      </p:cBhvr>
                                      <p:tavLst>
                                        <p:tav tm="0">
                                          <p:val>
                                            <p:strVal val="#ppt_y-1"/>
                                          </p:val>
                                        </p:tav>
                                        <p:tav tm="100000">
                                          <p:val>
                                            <p:strVal val="#ppt_y-(0.354*#ppt_w-0.172*#ppt_h)"/>
                                          </p:val>
                                        </p:tav>
                                      </p:tavLst>
                                    </p:anim>
                                    <p:anim calcmode="lin" valueType="num">
                                      <p:cBhvr>
                                        <p:cTn id="15" dur="2" decel="50000" autoRev="1" fill="hold">
                                          <p:stCondLst>
                                            <p:cond delay="136"/>
                                          </p:stCondLst>
                                        </p:cTn>
                                        <p:tgtEl>
                                          <p:spTgt spid="3">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6" dur="1" fill="hold">
                                          <p:stCondLst>
                                            <p:cond delay="299"/>
                                          </p:stCondLst>
                                        </p:cTn>
                                        <p:tgtEl>
                                          <p:spTgt spid="3">
                                            <p:txEl>
                                              <p:pRg st="0" end="0"/>
                                            </p:txEl>
                                          </p:spTgt>
                                        </p:tgtEl>
                                        <p:attrNameLst>
                                          <p:attrName>ppt_y</p:attrName>
                                        </p:attrNameLst>
                                      </p:cBhvr>
                                      <p:tavLst>
                                        <p:tav tm="0">
                                          <p:val>
                                            <p:strVal val="#ppt_y-(0.354*#ppt_w-0.172*#ppt_h)"/>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0"/>
            <a:ext cx="11924675" cy="6790544"/>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Digi Aisa Bold" panose="02000806080000060004" pitchFamily="2" charset="-78"/>
                <a:cs typeface="Digi Aisa Bold" panose="02000806080000060004" pitchFamily="2" charset="-78"/>
              </a:rPr>
              <a:t>تعریف اعداد صحیح</a:t>
            </a:r>
            <a:r>
              <a:rPr lang="en-US" sz="5400" spc="-150" dirty="0">
                <a:solidFill>
                  <a:schemeClr val="accent6">
                    <a:lumMod val="50000"/>
                  </a:schemeClr>
                </a:solidFill>
                <a:latin typeface="Digi Aisa Bold" panose="02000806080000060004" pitchFamily="2" charset="-78"/>
                <a:cs typeface="Digi Aisa Bold" panose="02000806080000060004" pitchFamily="2" charset="-78"/>
              </a:rPr>
              <a:t>: </a:t>
            </a:r>
            <a:endParaRPr lang="fa-IR" sz="5400" spc="-150" dirty="0">
              <a:solidFill>
                <a:schemeClr val="accent6">
                  <a:lumMod val="50000"/>
                </a:schemeClr>
              </a:solidFill>
              <a:latin typeface="Digi Aisa Bold" panose="02000806080000060004" pitchFamily="2" charset="-78"/>
              <a:cs typeface="Digi Aisa Bold" panose="02000806080000060004" pitchFamily="2" charset="-78"/>
            </a:endParaRPr>
          </a:p>
          <a:p>
            <a:pPr marL="0" lvl="0" indent="0" algn="r" rtl="1">
              <a:lnSpc>
                <a:spcPct val="100000"/>
              </a:lnSpc>
              <a:spcBef>
                <a:spcPts val="1500"/>
              </a:spcBef>
              <a:buNone/>
            </a:pPr>
            <a:r>
              <a:rPr lang="fa-IR" spc="-150" dirty="0">
                <a:solidFill>
                  <a:prstClr val="black"/>
                </a:solidFill>
                <a:latin typeface="Vazirmatn Light" pitchFamily="2" charset="-78"/>
                <a:cs typeface="Vazirmatn Light" pitchFamily="2" charset="-78"/>
              </a:rPr>
              <a:t>اعداد صحیح از سه دسته تشكيل شده اند. اعداد مثبت، صفر، اعداد منفى.</a:t>
            </a:r>
          </a:p>
          <a:p>
            <a:pPr marL="0" lvl="0" indent="0" algn="r" rtl="1">
              <a:lnSpc>
                <a:spcPct val="100000"/>
              </a:lnSpc>
              <a:spcBef>
                <a:spcPts val="1500"/>
              </a:spcBef>
              <a:buNone/>
            </a:pPr>
            <a:r>
              <a:rPr lang="fa-IR" spc="-150" dirty="0">
                <a:solidFill>
                  <a:prstClr val="black"/>
                </a:solidFill>
                <a:latin typeface="Vazirmatn Light" pitchFamily="2" charset="-78"/>
                <a:cs typeface="Vazirmatn Light" pitchFamily="2" charset="-78"/>
              </a:rPr>
              <a:t>اعداد صحیح را با حرف انگلیسی</a:t>
            </a:r>
            <a:r>
              <a:rPr lang="en-US" spc="-150" dirty="0">
                <a:solidFill>
                  <a:prstClr val="black"/>
                </a:solidFill>
                <a:latin typeface="Vazirmatn Light" pitchFamily="2" charset="-78"/>
                <a:cs typeface="Vazirmatn Light" pitchFamily="2" charset="-78"/>
              </a:rPr>
              <a:t> Z </a:t>
            </a:r>
            <a:r>
              <a:rPr lang="fa-IR" spc="-150" dirty="0">
                <a:solidFill>
                  <a:prstClr val="black"/>
                </a:solidFill>
                <a:latin typeface="Vazirmatn Light" pitchFamily="2" charset="-78"/>
                <a:cs typeface="Vazirmatn Light" pitchFamily="2" charset="-78"/>
              </a:rPr>
              <a:t>نشان می دهند:</a:t>
            </a:r>
            <a:endParaRPr lang="en-US" spc="-150" dirty="0">
              <a:solidFill>
                <a:prstClr val="black"/>
              </a:solidFill>
              <a:latin typeface="Vazirmatn Light" pitchFamily="2" charset="-78"/>
              <a:cs typeface="Vazirmatn Light" pitchFamily="2" charset="-78"/>
            </a:endParaRPr>
          </a:p>
          <a:p>
            <a:pPr marL="0" lvl="0" indent="0" algn="r" rtl="1">
              <a:lnSpc>
                <a:spcPct val="100000"/>
              </a:lnSpc>
              <a:spcBef>
                <a:spcPts val="2000"/>
              </a:spcBef>
              <a:buNone/>
            </a:pPr>
            <a:endParaRPr lang="en-US" spc="-150" dirty="0">
              <a:solidFill>
                <a:prstClr val="black"/>
              </a:solidFill>
              <a:latin typeface="Shabnam" panose="020B0603030804020204" pitchFamily="34" charset="-78"/>
              <a:cs typeface="Shabnam" panose="020B0603030804020204" pitchFamily="34" charset="-78"/>
            </a:endParaRPr>
          </a:p>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حرکت روی محور اعداد صحیح :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
              </a:spcBef>
              <a:buNone/>
            </a:pPr>
            <a:r>
              <a:rPr lang="fa-IR" spc="-150" dirty="0">
                <a:latin typeface="Vazirmatn Light" pitchFamily="2" charset="-78"/>
                <a:cs typeface="Vazirmatn Light" pitchFamily="2" charset="-78"/>
              </a:rPr>
              <a:t>جا به جایی از یک نقطه به نقطه ی دیگر را حرکت می گویند؛ اگر این حركت در جهت مثبت (سمت راست) باشد با علامت مثبت و اگر در جهت منفی (سمت چپ) باشد، علامت منفی خواهد داشت.</a:t>
            </a:r>
            <a:endParaRPr lang="en-US" spc="-150" dirty="0">
              <a:latin typeface="Vazirmatn Light" pitchFamily="2" charset="-78"/>
              <a:cs typeface="Vazirmatn Light" pitchFamily="2" charset="-78"/>
            </a:endParaRPr>
          </a:p>
          <a:p>
            <a:pPr marL="0" indent="0" algn="r" rtl="1">
              <a:lnSpc>
                <a:spcPct val="100000"/>
              </a:lnSpc>
              <a:spcBef>
                <a:spcPts val="1500"/>
              </a:spcBef>
              <a:buNone/>
            </a:pPr>
            <a:endParaRPr lang="en-US" spc="-150" dirty="0">
              <a:latin typeface="Shabnam" panose="020B0603030804020204" pitchFamily="34" charset="-78"/>
              <a:cs typeface="Shabnam" panose="020B0603030804020204" pitchFamily="34" charset="-78"/>
            </a:endParaRPr>
          </a:p>
          <a:p>
            <a:pPr marL="0" indent="0" algn="r" rtl="1">
              <a:buNone/>
            </a:pPr>
            <a:endParaRPr lang="en-US" spc="-150" dirty="0">
              <a:solidFill>
                <a:schemeClr val="accent6">
                  <a:lumMod val="50000"/>
                </a:schemeClr>
              </a:solidFill>
              <a:latin typeface="Shabnam" panose="020B0603030804020204" pitchFamily="34" charset="-78"/>
              <a:cs typeface="Shabnam" panose="020B0603030804020204" pitchFamily="34" charset="-78"/>
            </a:endParaRPr>
          </a:p>
        </p:txBody>
      </p:sp>
      <p:sp>
        <p:nvSpPr>
          <p:cNvPr id="2" name="Arrow: Left-Right 1">
            <a:extLst>
              <a:ext uri="{FF2B5EF4-FFF2-40B4-BE49-F238E27FC236}">
                <a16:creationId xmlns:a16="http://schemas.microsoft.com/office/drawing/2014/main" id="{1BBC86C5-C07C-CCC8-769B-FC6A1FB22C8F}"/>
              </a:ext>
            </a:extLst>
          </p:cNvPr>
          <p:cNvSpPr/>
          <p:nvPr/>
        </p:nvSpPr>
        <p:spPr>
          <a:xfrm>
            <a:off x="1304144" y="5891132"/>
            <a:ext cx="9998440" cy="262328"/>
          </a:xfrm>
          <a:prstGeom prst="leftRightArrow">
            <a:avLst>
              <a:gd name="adj1" fmla="val 15714"/>
              <a:gd name="adj2" fmla="val 50000"/>
            </a:avLst>
          </a:prstGeom>
          <a:ln>
            <a:solidFill>
              <a:srgbClr val="063E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aseline="-25000" dirty="0"/>
              <a:t>`</a:t>
            </a:r>
          </a:p>
        </p:txBody>
      </p:sp>
      <p:sp>
        <p:nvSpPr>
          <p:cNvPr id="8" name="TextBox 7">
            <a:extLst>
              <a:ext uri="{FF2B5EF4-FFF2-40B4-BE49-F238E27FC236}">
                <a16:creationId xmlns:a16="http://schemas.microsoft.com/office/drawing/2014/main" id="{6A80395C-C27C-D045-0A48-22BA04A2FADB}"/>
              </a:ext>
            </a:extLst>
          </p:cNvPr>
          <p:cNvSpPr txBox="1"/>
          <p:nvPr/>
        </p:nvSpPr>
        <p:spPr>
          <a:xfrm>
            <a:off x="1780671" y="6380234"/>
            <a:ext cx="372218" cy="369332"/>
          </a:xfrm>
          <a:prstGeom prst="rect">
            <a:avLst/>
          </a:prstGeom>
          <a:noFill/>
        </p:spPr>
        <p:txBody>
          <a:bodyPr wrap="none" rtlCol="0">
            <a:spAutoFit/>
          </a:bodyPr>
          <a:lstStyle/>
          <a:p>
            <a:r>
              <a:rPr lang="en-US" dirty="0"/>
              <a:t>-4</a:t>
            </a:r>
          </a:p>
        </p:txBody>
      </p:sp>
      <p:cxnSp>
        <p:nvCxnSpPr>
          <p:cNvPr id="10" name="Straight Connector 9">
            <a:extLst>
              <a:ext uri="{FF2B5EF4-FFF2-40B4-BE49-F238E27FC236}">
                <a16:creationId xmlns:a16="http://schemas.microsoft.com/office/drawing/2014/main" id="{1AC60033-F3DC-0EF4-7269-08AE926251E7}"/>
              </a:ext>
            </a:extLst>
          </p:cNvPr>
          <p:cNvCxnSpPr>
            <a:cxnSpLocks/>
          </p:cNvCxnSpPr>
          <p:nvPr/>
        </p:nvCxnSpPr>
        <p:spPr>
          <a:xfrm>
            <a:off x="1966780"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69F6A3-6182-D3D1-2789-C9113FD4AC28}"/>
              </a:ext>
            </a:extLst>
          </p:cNvPr>
          <p:cNvSpPr txBox="1"/>
          <p:nvPr/>
        </p:nvSpPr>
        <p:spPr>
          <a:xfrm>
            <a:off x="2659389" y="6380234"/>
            <a:ext cx="372218" cy="369332"/>
          </a:xfrm>
          <a:prstGeom prst="rect">
            <a:avLst/>
          </a:prstGeom>
          <a:noFill/>
        </p:spPr>
        <p:txBody>
          <a:bodyPr wrap="none" rtlCol="0">
            <a:spAutoFit/>
          </a:bodyPr>
          <a:lstStyle/>
          <a:p>
            <a:r>
              <a:rPr lang="en-US" dirty="0"/>
              <a:t>-3</a:t>
            </a:r>
          </a:p>
        </p:txBody>
      </p:sp>
      <p:cxnSp>
        <p:nvCxnSpPr>
          <p:cNvPr id="13" name="Straight Connector 12">
            <a:extLst>
              <a:ext uri="{FF2B5EF4-FFF2-40B4-BE49-F238E27FC236}">
                <a16:creationId xmlns:a16="http://schemas.microsoft.com/office/drawing/2014/main" id="{02AB722F-7243-B10D-673A-9276220C2E4F}"/>
              </a:ext>
            </a:extLst>
          </p:cNvPr>
          <p:cNvCxnSpPr>
            <a:cxnSpLocks/>
          </p:cNvCxnSpPr>
          <p:nvPr/>
        </p:nvCxnSpPr>
        <p:spPr>
          <a:xfrm>
            <a:off x="2884776"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C4C9EE0-D4DA-78B7-9464-0C3D0547F0BE}"/>
              </a:ext>
            </a:extLst>
          </p:cNvPr>
          <p:cNvSpPr txBox="1"/>
          <p:nvPr/>
        </p:nvSpPr>
        <p:spPr>
          <a:xfrm>
            <a:off x="3569890" y="6380234"/>
            <a:ext cx="372218" cy="369332"/>
          </a:xfrm>
          <a:prstGeom prst="rect">
            <a:avLst/>
          </a:prstGeom>
          <a:noFill/>
        </p:spPr>
        <p:txBody>
          <a:bodyPr wrap="none" rtlCol="0">
            <a:spAutoFit/>
          </a:bodyPr>
          <a:lstStyle/>
          <a:p>
            <a:r>
              <a:rPr lang="en-US" dirty="0"/>
              <a:t>-2</a:t>
            </a:r>
          </a:p>
        </p:txBody>
      </p:sp>
      <p:cxnSp>
        <p:nvCxnSpPr>
          <p:cNvPr id="15" name="Straight Connector 14">
            <a:extLst>
              <a:ext uri="{FF2B5EF4-FFF2-40B4-BE49-F238E27FC236}">
                <a16:creationId xmlns:a16="http://schemas.microsoft.com/office/drawing/2014/main" id="{602A48C7-9932-1EC8-9657-30EC05F515E8}"/>
              </a:ext>
            </a:extLst>
          </p:cNvPr>
          <p:cNvCxnSpPr>
            <a:cxnSpLocks/>
          </p:cNvCxnSpPr>
          <p:nvPr/>
        </p:nvCxnSpPr>
        <p:spPr>
          <a:xfrm>
            <a:off x="3802772"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46AABE-1BBA-5FD0-DF79-D08F86530E1C}"/>
              </a:ext>
            </a:extLst>
          </p:cNvPr>
          <p:cNvSpPr txBox="1"/>
          <p:nvPr/>
        </p:nvSpPr>
        <p:spPr>
          <a:xfrm>
            <a:off x="4495381" y="6380234"/>
            <a:ext cx="372218" cy="369332"/>
          </a:xfrm>
          <a:prstGeom prst="rect">
            <a:avLst/>
          </a:prstGeom>
          <a:noFill/>
        </p:spPr>
        <p:txBody>
          <a:bodyPr wrap="none" rtlCol="0">
            <a:spAutoFit/>
          </a:bodyPr>
          <a:lstStyle/>
          <a:p>
            <a:r>
              <a:rPr lang="en-US" dirty="0"/>
              <a:t>-1</a:t>
            </a:r>
          </a:p>
        </p:txBody>
      </p:sp>
      <p:cxnSp>
        <p:nvCxnSpPr>
          <p:cNvPr id="17" name="Straight Connector 16">
            <a:extLst>
              <a:ext uri="{FF2B5EF4-FFF2-40B4-BE49-F238E27FC236}">
                <a16:creationId xmlns:a16="http://schemas.microsoft.com/office/drawing/2014/main" id="{F0613446-450B-07B0-2A8E-05E50FC39470}"/>
              </a:ext>
            </a:extLst>
          </p:cNvPr>
          <p:cNvCxnSpPr>
            <a:cxnSpLocks/>
          </p:cNvCxnSpPr>
          <p:nvPr/>
        </p:nvCxnSpPr>
        <p:spPr>
          <a:xfrm>
            <a:off x="4720768"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84E5549-5877-5B2E-5096-C2AD31551DC8}"/>
              </a:ext>
            </a:extLst>
          </p:cNvPr>
          <p:cNvSpPr txBox="1"/>
          <p:nvPr/>
        </p:nvSpPr>
        <p:spPr>
          <a:xfrm>
            <a:off x="5473338" y="6380234"/>
            <a:ext cx="301686" cy="369332"/>
          </a:xfrm>
          <a:prstGeom prst="rect">
            <a:avLst/>
          </a:prstGeom>
          <a:noFill/>
        </p:spPr>
        <p:txBody>
          <a:bodyPr wrap="none" rtlCol="0">
            <a:spAutoFit/>
          </a:bodyPr>
          <a:lstStyle/>
          <a:p>
            <a:r>
              <a:rPr lang="en-US" dirty="0"/>
              <a:t>0</a:t>
            </a:r>
          </a:p>
        </p:txBody>
      </p:sp>
      <p:cxnSp>
        <p:nvCxnSpPr>
          <p:cNvPr id="19" name="Straight Connector 18">
            <a:extLst>
              <a:ext uri="{FF2B5EF4-FFF2-40B4-BE49-F238E27FC236}">
                <a16:creationId xmlns:a16="http://schemas.microsoft.com/office/drawing/2014/main" id="{2236BCC4-D3D4-E6FE-5082-AF7853AD2893}"/>
              </a:ext>
            </a:extLst>
          </p:cNvPr>
          <p:cNvCxnSpPr>
            <a:cxnSpLocks/>
          </p:cNvCxnSpPr>
          <p:nvPr/>
        </p:nvCxnSpPr>
        <p:spPr>
          <a:xfrm>
            <a:off x="5638764"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0E608FE-E27D-F7C3-C879-3BCD621E88FA}"/>
              </a:ext>
            </a:extLst>
          </p:cNvPr>
          <p:cNvSpPr txBox="1"/>
          <p:nvPr/>
        </p:nvSpPr>
        <p:spPr>
          <a:xfrm>
            <a:off x="6413818" y="6380234"/>
            <a:ext cx="301686" cy="369332"/>
          </a:xfrm>
          <a:prstGeom prst="rect">
            <a:avLst/>
          </a:prstGeom>
          <a:noFill/>
        </p:spPr>
        <p:txBody>
          <a:bodyPr wrap="none" rtlCol="0">
            <a:spAutoFit/>
          </a:bodyPr>
          <a:lstStyle/>
          <a:p>
            <a:r>
              <a:rPr lang="en-US" dirty="0"/>
              <a:t>1</a:t>
            </a:r>
          </a:p>
        </p:txBody>
      </p:sp>
      <p:cxnSp>
        <p:nvCxnSpPr>
          <p:cNvPr id="21" name="Straight Connector 20">
            <a:extLst>
              <a:ext uri="{FF2B5EF4-FFF2-40B4-BE49-F238E27FC236}">
                <a16:creationId xmlns:a16="http://schemas.microsoft.com/office/drawing/2014/main" id="{D00EC6CC-5AC7-25C7-237E-A06D9B8A3818}"/>
              </a:ext>
            </a:extLst>
          </p:cNvPr>
          <p:cNvCxnSpPr>
            <a:cxnSpLocks/>
          </p:cNvCxnSpPr>
          <p:nvPr/>
        </p:nvCxnSpPr>
        <p:spPr>
          <a:xfrm>
            <a:off x="6556760"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DF28EDB-109F-B0B9-2F92-058FAC36F9AB}"/>
              </a:ext>
            </a:extLst>
          </p:cNvPr>
          <p:cNvSpPr txBox="1"/>
          <p:nvPr/>
        </p:nvSpPr>
        <p:spPr>
          <a:xfrm>
            <a:off x="7301834" y="6380234"/>
            <a:ext cx="301686" cy="369332"/>
          </a:xfrm>
          <a:prstGeom prst="rect">
            <a:avLst/>
          </a:prstGeom>
          <a:noFill/>
        </p:spPr>
        <p:txBody>
          <a:bodyPr wrap="none" rtlCol="0">
            <a:spAutoFit/>
          </a:bodyPr>
          <a:lstStyle/>
          <a:p>
            <a:r>
              <a:rPr lang="en-US" dirty="0"/>
              <a:t>2</a:t>
            </a:r>
          </a:p>
        </p:txBody>
      </p:sp>
      <p:cxnSp>
        <p:nvCxnSpPr>
          <p:cNvPr id="23" name="Straight Connector 22">
            <a:extLst>
              <a:ext uri="{FF2B5EF4-FFF2-40B4-BE49-F238E27FC236}">
                <a16:creationId xmlns:a16="http://schemas.microsoft.com/office/drawing/2014/main" id="{20CC0CCF-6072-7F21-7558-A25532EEBF37}"/>
              </a:ext>
            </a:extLst>
          </p:cNvPr>
          <p:cNvCxnSpPr>
            <a:cxnSpLocks/>
          </p:cNvCxnSpPr>
          <p:nvPr/>
        </p:nvCxnSpPr>
        <p:spPr>
          <a:xfrm>
            <a:off x="7474756"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DCF5637-5B6C-A4B9-46DA-E0BC9B846F5D}"/>
              </a:ext>
            </a:extLst>
          </p:cNvPr>
          <p:cNvSpPr txBox="1"/>
          <p:nvPr/>
        </p:nvSpPr>
        <p:spPr>
          <a:xfrm>
            <a:off x="8264800" y="6380234"/>
            <a:ext cx="301686" cy="369332"/>
          </a:xfrm>
          <a:prstGeom prst="rect">
            <a:avLst/>
          </a:prstGeom>
          <a:noFill/>
        </p:spPr>
        <p:txBody>
          <a:bodyPr wrap="none" rtlCol="0">
            <a:spAutoFit/>
          </a:bodyPr>
          <a:lstStyle/>
          <a:p>
            <a:r>
              <a:rPr lang="en-US" dirty="0"/>
              <a:t>3</a:t>
            </a:r>
          </a:p>
        </p:txBody>
      </p:sp>
      <p:cxnSp>
        <p:nvCxnSpPr>
          <p:cNvPr id="25" name="Straight Connector 24">
            <a:extLst>
              <a:ext uri="{FF2B5EF4-FFF2-40B4-BE49-F238E27FC236}">
                <a16:creationId xmlns:a16="http://schemas.microsoft.com/office/drawing/2014/main" id="{EF570FEC-BEAE-AECF-9D4F-58E197168F55}"/>
              </a:ext>
            </a:extLst>
          </p:cNvPr>
          <p:cNvCxnSpPr>
            <a:cxnSpLocks/>
          </p:cNvCxnSpPr>
          <p:nvPr/>
        </p:nvCxnSpPr>
        <p:spPr>
          <a:xfrm>
            <a:off x="8392752"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AEF67B14-F2D6-8382-3FEB-2474EC0B1F2C}"/>
              </a:ext>
            </a:extLst>
          </p:cNvPr>
          <p:cNvSpPr txBox="1"/>
          <p:nvPr/>
        </p:nvSpPr>
        <p:spPr>
          <a:xfrm>
            <a:off x="9154601" y="6380234"/>
            <a:ext cx="301686" cy="369332"/>
          </a:xfrm>
          <a:prstGeom prst="rect">
            <a:avLst/>
          </a:prstGeom>
          <a:noFill/>
        </p:spPr>
        <p:txBody>
          <a:bodyPr wrap="none" rtlCol="0">
            <a:spAutoFit/>
          </a:bodyPr>
          <a:lstStyle/>
          <a:p>
            <a:r>
              <a:rPr lang="en-US" dirty="0"/>
              <a:t>4</a:t>
            </a:r>
          </a:p>
        </p:txBody>
      </p:sp>
      <p:cxnSp>
        <p:nvCxnSpPr>
          <p:cNvPr id="27" name="Straight Connector 26">
            <a:extLst>
              <a:ext uri="{FF2B5EF4-FFF2-40B4-BE49-F238E27FC236}">
                <a16:creationId xmlns:a16="http://schemas.microsoft.com/office/drawing/2014/main" id="{E0874DC6-857C-0042-F3A7-B2FAD71E01BF}"/>
              </a:ext>
            </a:extLst>
          </p:cNvPr>
          <p:cNvCxnSpPr>
            <a:cxnSpLocks/>
          </p:cNvCxnSpPr>
          <p:nvPr/>
        </p:nvCxnSpPr>
        <p:spPr>
          <a:xfrm>
            <a:off x="9310748"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2F8C876-B448-6307-0A5F-3B805B24A61E}"/>
              </a:ext>
            </a:extLst>
          </p:cNvPr>
          <p:cNvSpPr txBox="1"/>
          <p:nvPr/>
        </p:nvSpPr>
        <p:spPr>
          <a:xfrm>
            <a:off x="10075928" y="6380234"/>
            <a:ext cx="301686" cy="369332"/>
          </a:xfrm>
          <a:prstGeom prst="rect">
            <a:avLst/>
          </a:prstGeom>
          <a:noFill/>
        </p:spPr>
        <p:txBody>
          <a:bodyPr wrap="none" rtlCol="0">
            <a:spAutoFit/>
          </a:bodyPr>
          <a:lstStyle/>
          <a:p>
            <a:r>
              <a:rPr lang="en-US" dirty="0"/>
              <a:t>5</a:t>
            </a:r>
          </a:p>
        </p:txBody>
      </p:sp>
      <p:cxnSp>
        <p:nvCxnSpPr>
          <p:cNvPr id="29" name="Straight Connector 28">
            <a:extLst>
              <a:ext uri="{FF2B5EF4-FFF2-40B4-BE49-F238E27FC236}">
                <a16:creationId xmlns:a16="http://schemas.microsoft.com/office/drawing/2014/main" id="{9C2D7341-1649-692F-46FE-AB2151A3F087}"/>
              </a:ext>
            </a:extLst>
          </p:cNvPr>
          <p:cNvCxnSpPr>
            <a:cxnSpLocks/>
          </p:cNvCxnSpPr>
          <p:nvPr/>
        </p:nvCxnSpPr>
        <p:spPr>
          <a:xfrm>
            <a:off x="10228744" y="6033536"/>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B24D8CC0-CE30-10AE-83B6-EEEDD0029ABC}"/>
              </a:ext>
            </a:extLst>
          </p:cNvPr>
          <p:cNvSpPr txBox="1"/>
          <p:nvPr/>
        </p:nvSpPr>
        <p:spPr>
          <a:xfrm>
            <a:off x="10893653" y="6380234"/>
            <a:ext cx="253261" cy="369332"/>
          </a:xfrm>
          <a:prstGeom prst="rect">
            <a:avLst/>
          </a:prstGeom>
          <a:noFill/>
        </p:spPr>
        <p:txBody>
          <a:bodyPr wrap="square" rtlCol="0">
            <a:spAutoFit/>
          </a:bodyPr>
          <a:lstStyle/>
          <a:p>
            <a:r>
              <a:rPr lang="en-US" dirty="0"/>
              <a:t>6</a:t>
            </a:r>
          </a:p>
        </p:txBody>
      </p:sp>
      <p:cxnSp>
        <p:nvCxnSpPr>
          <p:cNvPr id="31" name="Straight Connector 30">
            <a:extLst>
              <a:ext uri="{FF2B5EF4-FFF2-40B4-BE49-F238E27FC236}">
                <a16:creationId xmlns:a16="http://schemas.microsoft.com/office/drawing/2014/main" id="{C3DB4A5A-863D-588A-7343-53B9FD18F7BA}"/>
              </a:ext>
            </a:extLst>
          </p:cNvPr>
          <p:cNvCxnSpPr>
            <a:cxnSpLocks/>
          </p:cNvCxnSpPr>
          <p:nvPr/>
        </p:nvCxnSpPr>
        <p:spPr>
          <a:xfrm>
            <a:off x="11027779" y="6005628"/>
            <a:ext cx="0" cy="397240"/>
          </a:xfrm>
          <a:prstGeom prst="line">
            <a:avLst/>
          </a:prstGeom>
          <a:ln w="28575">
            <a:solidFill>
              <a:srgbClr val="063E2F"/>
            </a:solidFill>
          </a:ln>
        </p:spPr>
        <p:style>
          <a:lnRef idx="1">
            <a:schemeClr val="accent1"/>
          </a:lnRef>
          <a:fillRef idx="0">
            <a:schemeClr val="accent1"/>
          </a:fillRef>
          <a:effectRef idx="0">
            <a:schemeClr val="accent1"/>
          </a:effectRef>
          <a:fontRef idx="minor">
            <a:schemeClr val="tx1"/>
          </a:fontRef>
        </p:style>
      </p:cxnSp>
      <p:sp>
        <p:nvSpPr>
          <p:cNvPr id="32" name="Arrow: Curved Down 31">
            <a:extLst>
              <a:ext uri="{FF2B5EF4-FFF2-40B4-BE49-F238E27FC236}">
                <a16:creationId xmlns:a16="http://schemas.microsoft.com/office/drawing/2014/main" id="{9E5702EC-DF28-89EC-3893-5748E501E235}"/>
              </a:ext>
            </a:extLst>
          </p:cNvPr>
          <p:cNvSpPr/>
          <p:nvPr/>
        </p:nvSpPr>
        <p:spPr>
          <a:xfrm>
            <a:off x="1966780" y="5463914"/>
            <a:ext cx="1975325" cy="541714"/>
          </a:xfrm>
          <a:prstGeom prst="curvedDownArrow">
            <a:avLst>
              <a:gd name="adj1" fmla="val 8657"/>
              <a:gd name="adj2" fmla="val 43027"/>
              <a:gd name="adj3" fmla="val 31918"/>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a:t>
            </a:r>
          </a:p>
        </p:txBody>
      </p:sp>
      <p:sp>
        <p:nvSpPr>
          <p:cNvPr id="33" name="TextBox 32">
            <a:extLst>
              <a:ext uri="{FF2B5EF4-FFF2-40B4-BE49-F238E27FC236}">
                <a16:creationId xmlns:a16="http://schemas.microsoft.com/office/drawing/2014/main" id="{26CED0B3-2EAA-FFE4-67A8-8FF83E0BEEC7}"/>
              </a:ext>
            </a:extLst>
          </p:cNvPr>
          <p:cNvSpPr txBox="1"/>
          <p:nvPr/>
        </p:nvSpPr>
        <p:spPr>
          <a:xfrm>
            <a:off x="2648681" y="5061887"/>
            <a:ext cx="472190" cy="369332"/>
          </a:xfrm>
          <a:prstGeom prst="rect">
            <a:avLst/>
          </a:prstGeom>
          <a:noFill/>
        </p:spPr>
        <p:txBody>
          <a:bodyPr wrap="square" rtlCol="0">
            <a:spAutoFit/>
          </a:bodyPr>
          <a:lstStyle/>
          <a:p>
            <a:r>
              <a:rPr lang="en-US" dirty="0"/>
              <a:t>+2</a:t>
            </a:r>
          </a:p>
        </p:txBody>
      </p:sp>
      <p:sp>
        <p:nvSpPr>
          <p:cNvPr id="35" name="Arrow: Curved Up 34">
            <a:extLst>
              <a:ext uri="{FF2B5EF4-FFF2-40B4-BE49-F238E27FC236}">
                <a16:creationId xmlns:a16="http://schemas.microsoft.com/office/drawing/2014/main" id="{0BE80891-8A4D-A1EB-5610-4E96E1EC0491}"/>
              </a:ext>
            </a:extLst>
          </p:cNvPr>
          <p:cNvSpPr/>
          <p:nvPr/>
        </p:nvSpPr>
        <p:spPr>
          <a:xfrm rot="10800000">
            <a:off x="4636111" y="5190420"/>
            <a:ext cx="1941019" cy="815207"/>
          </a:xfrm>
          <a:prstGeom prst="curvedUpArrow">
            <a:avLst>
              <a:gd name="adj1" fmla="val 2154"/>
              <a:gd name="adj2" fmla="val 23729"/>
              <a:gd name="adj3" fmla="val 24034"/>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30566BCB-5AEB-CED0-5A41-5E2CEA30A04C}"/>
              </a:ext>
            </a:extLst>
          </p:cNvPr>
          <p:cNvSpPr txBox="1"/>
          <p:nvPr/>
        </p:nvSpPr>
        <p:spPr>
          <a:xfrm>
            <a:off x="5416860" y="4742102"/>
            <a:ext cx="472190" cy="369332"/>
          </a:xfrm>
          <a:prstGeom prst="rect">
            <a:avLst/>
          </a:prstGeom>
          <a:noFill/>
        </p:spPr>
        <p:txBody>
          <a:bodyPr wrap="square" rtlCol="0">
            <a:spAutoFit/>
          </a:bodyPr>
          <a:lstStyle/>
          <a:p>
            <a:r>
              <a:rPr lang="en-US" dirty="0"/>
              <a:t>-2</a:t>
            </a:r>
          </a:p>
        </p:txBody>
      </p:sp>
      <p:sp>
        <p:nvSpPr>
          <p:cNvPr id="39" name="Freeform: Shape 38">
            <a:extLst>
              <a:ext uri="{FF2B5EF4-FFF2-40B4-BE49-F238E27FC236}">
                <a16:creationId xmlns:a16="http://schemas.microsoft.com/office/drawing/2014/main" id="{7CD2CD89-8ABD-18B6-F082-A9D8A0389778}"/>
              </a:ext>
            </a:extLst>
          </p:cNvPr>
          <p:cNvSpPr/>
          <p:nvPr/>
        </p:nvSpPr>
        <p:spPr>
          <a:xfrm>
            <a:off x="7985197" y="5040299"/>
            <a:ext cx="950396" cy="946304"/>
          </a:xfrm>
          <a:custGeom>
            <a:avLst/>
            <a:gdLst>
              <a:gd name="connsiteX0" fmla="*/ 431780 w 950396"/>
              <a:gd name="connsiteY0" fmla="*/ 933281 h 946304"/>
              <a:gd name="connsiteX1" fmla="*/ 12055 w 950396"/>
              <a:gd name="connsiteY1" fmla="*/ 685943 h 946304"/>
              <a:gd name="connsiteX2" fmla="*/ 184442 w 950396"/>
              <a:gd name="connsiteY2" fmla="*/ 71346 h 946304"/>
              <a:gd name="connsiteX3" fmla="*/ 896475 w 950396"/>
              <a:gd name="connsiteY3" fmla="*/ 78841 h 946304"/>
              <a:gd name="connsiteX4" fmla="*/ 866495 w 950396"/>
              <a:gd name="connsiteY4" fmla="*/ 663458 h 946304"/>
              <a:gd name="connsiteX5" fmla="*/ 596672 w 950396"/>
              <a:gd name="connsiteY5" fmla="*/ 940776 h 946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0396" h="946304">
                <a:moveTo>
                  <a:pt x="431780" y="933281"/>
                </a:moveTo>
                <a:cubicBezTo>
                  <a:pt x="242529" y="881440"/>
                  <a:pt x="53278" y="829599"/>
                  <a:pt x="12055" y="685943"/>
                </a:cubicBezTo>
                <a:cubicBezTo>
                  <a:pt x="-29168" y="542287"/>
                  <a:pt x="37039" y="172530"/>
                  <a:pt x="184442" y="71346"/>
                </a:cubicBezTo>
                <a:cubicBezTo>
                  <a:pt x="331845" y="-29838"/>
                  <a:pt x="782800" y="-19844"/>
                  <a:pt x="896475" y="78841"/>
                </a:cubicBezTo>
                <a:cubicBezTo>
                  <a:pt x="1010150" y="177526"/>
                  <a:pt x="916462" y="519802"/>
                  <a:pt x="866495" y="663458"/>
                </a:cubicBezTo>
                <a:cubicBezTo>
                  <a:pt x="816528" y="807114"/>
                  <a:pt x="690361" y="979501"/>
                  <a:pt x="596672" y="940776"/>
                </a:cubicBezTo>
              </a:path>
            </a:pathLst>
          </a:custGeom>
          <a:noFill/>
          <a:ln w="28575">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ight Triangle 39">
            <a:extLst>
              <a:ext uri="{FF2B5EF4-FFF2-40B4-BE49-F238E27FC236}">
                <a16:creationId xmlns:a16="http://schemas.microsoft.com/office/drawing/2014/main" id="{A2410F0B-3E24-722E-8E40-AFDAF6DA81F8}"/>
              </a:ext>
            </a:extLst>
          </p:cNvPr>
          <p:cNvSpPr/>
          <p:nvPr/>
        </p:nvSpPr>
        <p:spPr>
          <a:xfrm>
            <a:off x="8566486" y="5818960"/>
            <a:ext cx="180275" cy="178029"/>
          </a:xfrm>
          <a:prstGeom prst="rtTriangl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1F87F572-6169-2622-083D-FBAA732FD7B5}"/>
              </a:ext>
            </a:extLst>
          </p:cNvPr>
          <p:cNvSpPr txBox="1"/>
          <p:nvPr/>
        </p:nvSpPr>
        <p:spPr>
          <a:xfrm>
            <a:off x="8330391" y="4721509"/>
            <a:ext cx="472190" cy="369332"/>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68C3BE0-3CA0-E7E7-2613-7B0854B202A6}"/>
                  </a:ext>
                </a:extLst>
              </p:cNvPr>
              <p:cNvSpPr txBox="1"/>
              <p:nvPr/>
            </p:nvSpPr>
            <p:spPr>
              <a:xfrm>
                <a:off x="3011774" y="2203946"/>
                <a:ext cx="6168452" cy="86177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20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𝑍</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3</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2</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1</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0</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1</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2</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3</m:t>
                      </m:r>
                      <m:r>
                        <a:rPr kumimoji="0" lang="en-US" sz="3200" b="0" i="1" u="none" strike="noStrike" kern="1200" cap="none" spc="-150" normalizeH="0" baseline="0" noProof="0" smtClean="0">
                          <a:ln>
                            <a:noFill/>
                          </a:ln>
                          <a:solidFill>
                            <a:prstClr val="black"/>
                          </a:solidFill>
                          <a:effectLst/>
                          <a:uLnTx/>
                          <a:uFillTx/>
                          <a:latin typeface="Cambria Math" panose="02040503050406030204" pitchFamily="18" charset="0"/>
                          <a:ea typeface="+mn-ea"/>
                          <a:cs typeface="Shabnam" panose="020B0603030804020204" pitchFamily="34" charset="-78"/>
                        </a:rPr>
                        <m:t> , …}</m:t>
                      </m:r>
                    </m:oMath>
                  </m:oMathPara>
                </a14:m>
                <a:endParaRPr kumimoji="0" lang="en-US" sz="3200" b="0" i="0" u="none" strike="noStrike" kern="1200" cap="none" spc="-150" normalizeH="0" baseline="0" noProof="0" dirty="0">
                  <a:ln>
                    <a:noFill/>
                  </a:ln>
                  <a:solidFill>
                    <a:srgbClr val="F19D19">
                      <a:lumMod val="50000"/>
                    </a:srgbClr>
                  </a:solidFill>
                  <a:effectLst/>
                  <a:uLnTx/>
                  <a:uFillTx/>
                  <a:latin typeface="Shabnam" panose="020B0603030804020204" pitchFamily="34" charset="-78"/>
                  <a:ea typeface="+mn-ea"/>
                  <a:cs typeface="Shabnam" panose="020B0603030804020204" pitchFamily="34" charset="-78"/>
                </a:endParaRPr>
              </a:p>
              <a:p>
                <a:endParaRPr lang="en-US" dirty="0"/>
              </a:p>
            </p:txBody>
          </p:sp>
        </mc:Choice>
        <mc:Fallback xmlns="">
          <p:sp>
            <p:nvSpPr>
              <p:cNvPr id="4" name="TextBox 3">
                <a:extLst>
                  <a:ext uri="{FF2B5EF4-FFF2-40B4-BE49-F238E27FC236}">
                    <a16:creationId xmlns:a16="http://schemas.microsoft.com/office/drawing/2014/main" id="{868C3BE0-3CA0-E7E7-2613-7B0854B202A6}"/>
                  </a:ext>
                </a:extLst>
              </p:cNvPr>
              <p:cNvSpPr txBox="1">
                <a:spLocks noRot="1" noChangeAspect="1" noMove="1" noResize="1" noEditPoints="1" noAdjustHandles="1" noChangeArrowheads="1" noChangeShapeType="1" noTextEdit="1"/>
              </p:cNvSpPr>
              <p:nvPr/>
            </p:nvSpPr>
            <p:spPr>
              <a:xfrm>
                <a:off x="3011774" y="2203946"/>
                <a:ext cx="6168452" cy="861774"/>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83685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out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arn(outVertic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up)">
                                      <p:cBhvr>
                                        <p:cTn id="42" dur="500"/>
                                        <p:tgtEl>
                                          <p:spTgt spid="10"/>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up)">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wipe(up)">
                                      <p:cBhvr>
                                        <p:cTn id="50" dur="500"/>
                                        <p:tgtEl>
                                          <p:spTgt spid="13"/>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up)">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up)">
                                      <p:cBhvr>
                                        <p:cTn id="58" dur="500"/>
                                        <p:tgtEl>
                                          <p:spTgt spid="15"/>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up)">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up)">
                                      <p:cBhvr>
                                        <p:cTn id="66" dur="500"/>
                                        <p:tgtEl>
                                          <p:spTgt spid="17"/>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up)">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wipe(up)">
                                      <p:cBhvr>
                                        <p:cTn id="74" dur="500"/>
                                        <p:tgtEl>
                                          <p:spTgt spid="19"/>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up)">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21"/>
                                        </p:tgtEl>
                                        <p:attrNameLst>
                                          <p:attrName>style.visibility</p:attrName>
                                        </p:attrNameLst>
                                      </p:cBhvr>
                                      <p:to>
                                        <p:strVal val="visible"/>
                                      </p:to>
                                    </p:set>
                                    <p:animEffect transition="in" filter="wipe(up)">
                                      <p:cBhvr>
                                        <p:cTn id="82" dur="500"/>
                                        <p:tgtEl>
                                          <p:spTgt spid="21"/>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Effect transition="in" filter="wipe(up)">
                                      <p:cBhvr>
                                        <p:cTn id="85" dur="500"/>
                                        <p:tgtEl>
                                          <p:spTgt spid="2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wipe(up)">
                                      <p:cBhvr>
                                        <p:cTn id="90" dur="500"/>
                                        <p:tgtEl>
                                          <p:spTgt spid="23"/>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ipe(up)">
                                      <p:cBhvr>
                                        <p:cTn id="93" dur="500"/>
                                        <p:tgtEl>
                                          <p:spTgt spid="22"/>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nodeType="clickEffect">
                                  <p:stCondLst>
                                    <p:cond delay="0"/>
                                  </p:stCondLst>
                                  <p:childTnLst>
                                    <p:set>
                                      <p:cBhvr>
                                        <p:cTn id="97" dur="1" fill="hold">
                                          <p:stCondLst>
                                            <p:cond delay="0"/>
                                          </p:stCondLst>
                                        </p:cTn>
                                        <p:tgtEl>
                                          <p:spTgt spid="25"/>
                                        </p:tgtEl>
                                        <p:attrNameLst>
                                          <p:attrName>style.visibility</p:attrName>
                                        </p:attrNameLst>
                                      </p:cBhvr>
                                      <p:to>
                                        <p:strVal val="visible"/>
                                      </p:to>
                                    </p:set>
                                    <p:animEffect transition="in" filter="wipe(up)">
                                      <p:cBhvr>
                                        <p:cTn id="98" dur="500"/>
                                        <p:tgtEl>
                                          <p:spTgt spid="25"/>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24"/>
                                        </p:tgtEl>
                                        <p:attrNameLst>
                                          <p:attrName>style.visibility</p:attrName>
                                        </p:attrNameLst>
                                      </p:cBhvr>
                                      <p:to>
                                        <p:strVal val="visible"/>
                                      </p:to>
                                    </p:set>
                                    <p:animEffect transition="in" filter="wipe(up)">
                                      <p:cBhvr>
                                        <p:cTn id="101" dur="500"/>
                                        <p:tgtEl>
                                          <p:spTgt spid="24"/>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1" fill="hold" nodeType="clickEffect">
                                  <p:stCondLst>
                                    <p:cond delay="0"/>
                                  </p:stCondLst>
                                  <p:childTnLst>
                                    <p:set>
                                      <p:cBhvr>
                                        <p:cTn id="105" dur="1" fill="hold">
                                          <p:stCondLst>
                                            <p:cond delay="0"/>
                                          </p:stCondLst>
                                        </p:cTn>
                                        <p:tgtEl>
                                          <p:spTgt spid="27"/>
                                        </p:tgtEl>
                                        <p:attrNameLst>
                                          <p:attrName>style.visibility</p:attrName>
                                        </p:attrNameLst>
                                      </p:cBhvr>
                                      <p:to>
                                        <p:strVal val="visible"/>
                                      </p:to>
                                    </p:set>
                                    <p:animEffect transition="in" filter="wipe(up)">
                                      <p:cBhvr>
                                        <p:cTn id="106" dur="500"/>
                                        <p:tgtEl>
                                          <p:spTgt spid="27"/>
                                        </p:tgtEl>
                                      </p:cBhvr>
                                    </p:animEffect>
                                  </p:childTnLst>
                                </p:cTn>
                              </p:par>
                              <p:par>
                                <p:cTn id="107" presetID="22" presetClass="entr" presetSubtype="1" fill="hold" grpId="0" nodeType="withEffect">
                                  <p:stCondLst>
                                    <p:cond delay="0"/>
                                  </p:stCondLst>
                                  <p:childTnLst>
                                    <p:set>
                                      <p:cBhvr>
                                        <p:cTn id="108" dur="1" fill="hold">
                                          <p:stCondLst>
                                            <p:cond delay="0"/>
                                          </p:stCondLst>
                                        </p:cTn>
                                        <p:tgtEl>
                                          <p:spTgt spid="26"/>
                                        </p:tgtEl>
                                        <p:attrNameLst>
                                          <p:attrName>style.visibility</p:attrName>
                                        </p:attrNameLst>
                                      </p:cBhvr>
                                      <p:to>
                                        <p:strVal val="visible"/>
                                      </p:to>
                                    </p:set>
                                    <p:animEffect transition="in" filter="wipe(up)">
                                      <p:cBhvr>
                                        <p:cTn id="109" dur="500"/>
                                        <p:tgtEl>
                                          <p:spTgt spid="26"/>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nodeType="click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wipe(up)">
                                      <p:cBhvr>
                                        <p:cTn id="114" dur="500"/>
                                        <p:tgtEl>
                                          <p:spTgt spid="29"/>
                                        </p:tgtEl>
                                      </p:cBhvr>
                                    </p:animEffect>
                                  </p:childTnLst>
                                </p:cTn>
                              </p:par>
                              <p:par>
                                <p:cTn id="115" presetID="22" presetClass="entr" presetSubtype="1" fill="hold" grpId="0" nodeType="withEffect">
                                  <p:stCondLst>
                                    <p:cond delay="0"/>
                                  </p:stCondLst>
                                  <p:childTnLst>
                                    <p:set>
                                      <p:cBhvr>
                                        <p:cTn id="116" dur="1" fill="hold">
                                          <p:stCondLst>
                                            <p:cond delay="0"/>
                                          </p:stCondLst>
                                        </p:cTn>
                                        <p:tgtEl>
                                          <p:spTgt spid="28"/>
                                        </p:tgtEl>
                                        <p:attrNameLst>
                                          <p:attrName>style.visibility</p:attrName>
                                        </p:attrNameLst>
                                      </p:cBhvr>
                                      <p:to>
                                        <p:strVal val="visible"/>
                                      </p:to>
                                    </p:set>
                                    <p:animEffect transition="in" filter="wipe(up)">
                                      <p:cBhvr>
                                        <p:cTn id="117" dur="500"/>
                                        <p:tgtEl>
                                          <p:spTgt spid="2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31"/>
                                        </p:tgtEl>
                                        <p:attrNameLst>
                                          <p:attrName>style.visibility</p:attrName>
                                        </p:attrNameLst>
                                      </p:cBhvr>
                                      <p:to>
                                        <p:strVal val="visible"/>
                                      </p:to>
                                    </p:set>
                                    <p:animEffect transition="in" filter="wipe(up)">
                                      <p:cBhvr>
                                        <p:cTn id="122" dur="500"/>
                                        <p:tgtEl>
                                          <p:spTgt spid="31"/>
                                        </p:tgtEl>
                                      </p:cBhvr>
                                    </p:animEffect>
                                  </p:childTnLst>
                                </p:cTn>
                              </p:par>
                              <p:par>
                                <p:cTn id="123" presetID="22" presetClass="entr" presetSubtype="1" fill="hold" grpId="0" nodeType="withEffect">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wipe(up)">
                                      <p:cBhvr>
                                        <p:cTn id="125" dur="500"/>
                                        <p:tgtEl>
                                          <p:spTgt spid="30"/>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32"/>
                                        </p:tgtEl>
                                        <p:attrNameLst>
                                          <p:attrName>style.visibility</p:attrName>
                                        </p:attrNameLst>
                                      </p:cBhvr>
                                      <p:to>
                                        <p:strVal val="visible"/>
                                      </p:to>
                                    </p:set>
                                    <p:animEffect transition="in" filter="wipe(left)">
                                      <p:cBhvr>
                                        <p:cTn id="130" dur="500"/>
                                        <p:tgtEl>
                                          <p:spTgt spid="32"/>
                                        </p:tgtEl>
                                      </p:cBhvr>
                                    </p:animEffect>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grpId="0" nodeType="clickEffect">
                                  <p:stCondLst>
                                    <p:cond delay="0"/>
                                  </p:stCondLst>
                                  <p:childTnLst>
                                    <p:set>
                                      <p:cBhvr>
                                        <p:cTn id="134" dur="1" fill="hold">
                                          <p:stCondLst>
                                            <p:cond delay="0"/>
                                          </p:stCondLst>
                                        </p:cTn>
                                        <p:tgtEl>
                                          <p:spTgt spid="33"/>
                                        </p:tgtEl>
                                        <p:attrNameLst>
                                          <p:attrName>style.visibility</p:attrName>
                                        </p:attrNameLst>
                                      </p:cBhvr>
                                      <p:to>
                                        <p:strVal val="visible"/>
                                      </p:to>
                                    </p:set>
                                    <p:animEffect transition="in" filter="fade">
                                      <p:cBhvr>
                                        <p:cTn id="135" dur="1000"/>
                                        <p:tgtEl>
                                          <p:spTgt spid="33"/>
                                        </p:tgtEl>
                                      </p:cBhvr>
                                    </p:animEffect>
                                    <p:anim calcmode="lin" valueType="num">
                                      <p:cBhvr>
                                        <p:cTn id="136" dur="1000" fill="hold"/>
                                        <p:tgtEl>
                                          <p:spTgt spid="33"/>
                                        </p:tgtEl>
                                        <p:attrNameLst>
                                          <p:attrName>ppt_x</p:attrName>
                                        </p:attrNameLst>
                                      </p:cBhvr>
                                      <p:tavLst>
                                        <p:tav tm="0">
                                          <p:val>
                                            <p:strVal val="#ppt_x"/>
                                          </p:val>
                                        </p:tav>
                                        <p:tav tm="100000">
                                          <p:val>
                                            <p:strVal val="#ppt_x"/>
                                          </p:val>
                                        </p:tav>
                                      </p:tavLst>
                                    </p:anim>
                                    <p:anim calcmode="lin" valueType="num">
                                      <p:cBhvr>
                                        <p:cTn id="137"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35"/>
                                        </p:tgtEl>
                                        <p:attrNameLst>
                                          <p:attrName>style.visibility</p:attrName>
                                        </p:attrNameLst>
                                      </p:cBhvr>
                                      <p:to>
                                        <p:strVal val="visible"/>
                                      </p:to>
                                    </p:set>
                                    <p:animEffect transition="in" filter="wipe(right)">
                                      <p:cBhvr>
                                        <p:cTn id="142" dur="500"/>
                                        <p:tgtEl>
                                          <p:spTgt spid="35"/>
                                        </p:tgtEl>
                                      </p:cBhvr>
                                    </p:animEffect>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1000"/>
                                        <p:tgtEl>
                                          <p:spTgt spid="36"/>
                                        </p:tgtEl>
                                      </p:cBhvr>
                                    </p:animEffect>
                                    <p:anim calcmode="lin" valueType="num">
                                      <p:cBhvr>
                                        <p:cTn id="148" dur="1000" fill="hold"/>
                                        <p:tgtEl>
                                          <p:spTgt spid="36"/>
                                        </p:tgtEl>
                                        <p:attrNameLst>
                                          <p:attrName>ppt_x</p:attrName>
                                        </p:attrNameLst>
                                      </p:cBhvr>
                                      <p:tavLst>
                                        <p:tav tm="0">
                                          <p:val>
                                            <p:strVal val="#ppt_x"/>
                                          </p:val>
                                        </p:tav>
                                        <p:tav tm="100000">
                                          <p:val>
                                            <p:strVal val="#ppt_x"/>
                                          </p:val>
                                        </p:tav>
                                      </p:tavLst>
                                    </p:anim>
                                    <p:anim calcmode="lin" valueType="num">
                                      <p:cBhvr>
                                        <p:cTn id="14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22" presetClass="entr" presetSubtype="1" fill="hold" grpId="0" nodeType="click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wipe(up)">
                                      <p:cBhvr>
                                        <p:cTn id="154" dur="500"/>
                                        <p:tgtEl>
                                          <p:spTgt spid="39"/>
                                        </p:tgtEl>
                                      </p:cBhvr>
                                    </p:animEffect>
                                  </p:childTnLst>
                                </p:cTn>
                              </p:par>
                              <p:par>
                                <p:cTn id="155" presetID="22" presetClass="entr" presetSubtype="1" fill="hold" grpId="0" nodeType="withEffect">
                                  <p:stCondLst>
                                    <p:cond delay="0"/>
                                  </p:stCondLst>
                                  <p:childTnLst>
                                    <p:set>
                                      <p:cBhvr>
                                        <p:cTn id="156" dur="1" fill="hold">
                                          <p:stCondLst>
                                            <p:cond delay="0"/>
                                          </p:stCondLst>
                                        </p:cTn>
                                        <p:tgtEl>
                                          <p:spTgt spid="40"/>
                                        </p:tgtEl>
                                        <p:attrNameLst>
                                          <p:attrName>style.visibility</p:attrName>
                                        </p:attrNameLst>
                                      </p:cBhvr>
                                      <p:to>
                                        <p:strVal val="visible"/>
                                      </p:to>
                                    </p:set>
                                    <p:animEffect transition="in" filter="wipe(up)">
                                      <p:cBhvr>
                                        <p:cTn id="157" dur="500"/>
                                        <p:tgtEl>
                                          <p:spTgt spid="40"/>
                                        </p:tgtEl>
                                      </p:cBhvr>
                                    </p:animEffect>
                                  </p:childTnLst>
                                </p:cTn>
                              </p:par>
                            </p:childTnLst>
                          </p:cTn>
                        </p:par>
                      </p:childTnLst>
                    </p:cTn>
                  </p:par>
                  <p:par>
                    <p:cTn id="158" fill="hold">
                      <p:stCondLst>
                        <p:cond delay="indefinite"/>
                      </p:stCondLst>
                      <p:childTnLst>
                        <p:par>
                          <p:cTn id="159" fill="hold">
                            <p:stCondLst>
                              <p:cond delay="0"/>
                            </p:stCondLst>
                            <p:childTnLst>
                              <p:par>
                                <p:cTn id="160" presetID="42" presetClass="entr" presetSubtype="0" fill="hold" grpId="0" nodeType="clickEffect">
                                  <p:stCondLst>
                                    <p:cond delay="0"/>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1000"/>
                                        <p:tgtEl>
                                          <p:spTgt spid="41"/>
                                        </p:tgtEl>
                                      </p:cBhvr>
                                    </p:animEffect>
                                    <p:anim calcmode="lin" valueType="num">
                                      <p:cBhvr>
                                        <p:cTn id="163" dur="1000" fill="hold"/>
                                        <p:tgtEl>
                                          <p:spTgt spid="41"/>
                                        </p:tgtEl>
                                        <p:attrNameLst>
                                          <p:attrName>ppt_x</p:attrName>
                                        </p:attrNameLst>
                                      </p:cBhvr>
                                      <p:tavLst>
                                        <p:tav tm="0">
                                          <p:val>
                                            <p:strVal val="#ppt_x"/>
                                          </p:val>
                                        </p:tav>
                                        <p:tav tm="100000">
                                          <p:val>
                                            <p:strVal val="#ppt_x"/>
                                          </p:val>
                                        </p:tav>
                                      </p:tavLst>
                                    </p:anim>
                                    <p:anim calcmode="lin" valueType="num">
                                      <p:cBhvr>
                                        <p:cTn id="16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2" grpId="0"/>
      <p:bldP spid="14" grpId="0"/>
      <p:bldP spid="16" grpId="0"/>
      <p:bldP spid="18" grpId="0"/>
      <p:bldP spid="20" grpId="0"/>
      <p:bldP spid="22" grpId="0"/>
      <p:bldP spid="24" grpId="0"/>
      <p:bldP spid="26" grpId="0"/>
      <p:bldP spid="28" grpId="0"/>
      <p:bldP spid="30" grpId="0"/>
      <p:bldP spid="32" grpId="0" animBg="1"/>
      <p:bldP spid="33" grpId="0"/>
      <p:bldP spid="35" grpId="0" animBg="1"/>
      <p:bldP spid="36" grpId="0"/>
      <p:bldP spid="39" grpId="0" animBg="1"/>
      <p:bldP spid="40" grpId="0" animBg="1"/>
      <p:bldP spid="41"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قرینه</a:t>
            </a:r>
            <a:r>
              <a:rPr lang="en-US" sz="5400" spc="-150" dirty="0">
                <a:solidFill>
                  <a:schemeClr val="accent6">
                    <a:lumMod val="50000"/>
                  </a:schemeClr>
                </a:solidFill>
                <a:latin typeface="Shabnam" panose="020B0603030804020204" pitchFamily="34" charset="-78"/>
                <a:cs typeface="A Shekari" panose="00000400000000000000" pitchFamily="2" charset="-78"/>
              </a:rPr>
              <a:t>: </a:t>
            </a:r>
          </a:p>
          <a:p>
            <a:pPr marL="0" indent="0" algn="r" rtl="1">
              <a:lnSpc>
                <a:spcPct val="100000"/>
              </a:lnSpc>
              <a:spcBef>
                <a:spcPts val="2000"/>
              </a:spcBef>
              <a:buNone/>
            </a:pPr>
            <a:r>
              <a:rPr lang="fa-IR" spc="-150" dirty="0">
                <a:latin typeface="Vazirmatn Light" pitchFamily="2" charset="-78"/>
                <a:cs typeface="Vazirmatn Light" pitchFamily="2" charset="-78"/>
              </a:rPr>
              <a:t>به اعدادی که فاصله آنها از صفر یکسان باشند قرینه می گویند. </a:t>
            </a:r>
          </a:p>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نکاتی در مورد قرینه :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00000"/>
              </a:lnSpc>
              <a:spcBef>
                <a:spcPts val="1500"/>
              </a:spcBef>
              <a:buNone/>
            </a:pPr>
            <a:r>
              <a:rPr lang="fa-IR" spc="-150" dirty="0">
                <a:latin typeface="Vazirmatn Light" pitchFamily="2" charset="-78"/>
                <a:cs typeface="Vazirmatn Light" pitchFamily="2" charset="-78"/>
              </a:rPr>
              <a:t>نکته 1 : قرینه هر عدد صحیح را می توان با تغییر علامت آن بدست آورد</a:t>
            </a:r>
          </a:p>
          <a:p>
            <a:pPr marL="0" indent="0" algn="r" rtl="1">
              <a:lnSpc>
                <a:spcPct val="100000"/>
              </a:lnSpc>
              <a:spcBef>
                <a:spcPts val="1500"/>
              </a:spcBef>
              <a:buNone/>
            </a:pPr>
            <a:r>
              <a:rPr lang="fa-IR" spc="-150" dirty="0">
                <a:latin typeface="Vazirmatn Light" pitchFamily="2" charset="-78"/>
                <a:cs typeface="Vazirmatn Light" pitchFamily="2" charset="-78"/>
              </a:rPr>
              <a:t>نکته 2 : قرینه عدد صفر برابر با خود صفر می باشد</a:t>
            </a:r>
          </a:p>
          <a:p>
            <a:pPr marL="0" indent="0" algn="r" rtl="1">
              <a:lnSpc>
                <a:spcPct val="100000"/>
              </a:lnSpc>
              <a:spcBef>
                <a:spcPts val="1500"/>
              </a:spcBef>
              <a:buNone/>
            </a:pPr>
            <a:r>
              <a:rPr lang="fa-IR" spc="-150" dirty="0">
                <a:latin typeface="Vazirmatn Light" pitchFamily="2" charset="-78"/>
                <a:cs typeface="Vazirmatn Light" pitchFamily="2" charset="-78"/>
              </a:rPr>
              <a:t>نکته 3 : قرینه ی قرینه ی هر عدد برابر با خودش می باشد</a:t>
            </a:r>
          </a:p>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مثال :</a:t>
            </a:r>
          </a:p>
          <a:p>
            <a:pPr marL="0" indent="0" rtl="1">
              <a:lnSpc>
                <a:spcPct val="100000"/>
              </a:lnSpc>
              <a:spcBef>
                <a:spcPts val="1500"/>
              </a:spcBef>
              <a:buNone/>
            </a:pPr>
            <a:endParaRPr lang="en-US" spc="-150" dirty="0">
              <a:solidFill>
                <a:srgbClr val="063E2F"/>
              </a:solidFill>
              <a:latin typeface="Shabnam" panose="020B0603030804020204" pitchFamily="34" charset="-78"/>
              <a:cs typeface="Shabnam" panose="020B0603030804020204" pitchFamily="34" charset="-78"/>
            </a:endParaRPr>
          </a:p>
          <a:p>
            <a:pPr marL="0" indent="0" algn="r" rtl="1">
              <a:lnSpc>
                <a:spcPct val="100000"/>
              </a:lnSpc>
              <a:spcBef>
                <a:spcPts val="1500"/>
              </a:spcBef>
              <a:buNone/>
            </a:pPr>
            <a:endParaRPr lang="en-US" spc="-150" dirty="0">
              <a:latin typeface="Shabnam" panose="020B0603030804020204" pitchFamily="34" charset="-78"/>
              <a:cs typeface="Shabnam" panose="020B0603030804020204" pitchFamily="34" charset="-78"/>
            </a:endParaRPr>
          </a:p>
          <a:p>
            <a:pPr marL="0" indent="0" algn="r" rtl="1">
              <a:buNone/>
            </a:pPr>
            <a:endParaRPr lang="en-US" spc="-150" dirty="0">
              <a:solidFill>
                <a:schemeClr val="accent6">
                  <a:lumMod val="50000"/>
                </a:schemeClr>
              </a:solidFill>
              <a:latin typeface="Shabnam" panose="020B0603030804020204" pitchFamily="34" charset="-78"/>
              <a:cs typeface="Shabnam" panose="020B0603030804020204" pitchFamily="34" charset="-78"/>
            </a:endParaRPr>
          </a:p>
        </p:txBody>
      </p:sp>
      <p:sp>
        <p:nvSpPr>
          <p:cNvPr id="4" name="TextBox 3">
            <a:extLst>
              <a:ext uri="{FF2B5EF4-FFF2-40B4-BE49-F238E27FC236}">
                <a16:creationId xmlns:a16="http://schemas.microsoft.com/office/drawing/2014/main" id="{5288FE66-BEF6-5C3D-C018-840E1AA8ABF9}"/>
              </a:ext>
            </a:extLst>
          </p:cNvPr>
          <p:cNvSpPr txBox="1"/>
          <p:nvPr/>
        </p:nvSpPr>
        <p:spPr>
          <a:xfrm>
            <a:off x="839366" y="1349116"/>
            <a:ext cx="3297837" cy="461665"/>
          </a:xfrm>
          <a:prstGeom prst="rect">
            <a:avLst/>
          </a:prstGeom>
          <a:noFill/>
        </p:spPr>
        <p:txBody>
          <a:bodyPr wrap="square" rtlCol="0">
            <a:spAutoFit/>
          </a:bodyPr>
          <a:lstStyle/>
          <a:p>
            <a:pPr algn="r" rtl="1"/>
            <a:r>
              <a:rPr lang="fa-IR" sz="2400" dirty="0">
                <a:solidFill>
                  <a:srgbClr val="FF0000"/>
                </a:solidFill>
                <a:latin typeface="Vazirmatn Light" pitchFamily="2" charset="-78"/>
                <a:cs typeface="Vazirmatn Light" pitchFamily="2" charset="-78"/>
              </a:rPr>
              <a:t>قرینه 3+ برابر است با 3-</a:t>
            </a:r>
            <a:endParaRPr lang="en-US" sz="2400" dirty="0">
              <a:solidFill>
                <a:srgbClr val="FF0000"/>
              </a:solidFill>
              <a:latin typeface="Vazirmatn Light" pitchFamily="2" charset="-78"/>
              <a:cs typeface="Vazirmatn Light" pitchFamily="2" charset="-78"/>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8328172-1B86-7B7A-0F9B-DF7E809502D6}"/>
                  </a:ext>
                </a:extLst>
              </p:cNvPr>
              <p:cNvSpPr txBox="1"/>
              <p:nvPr/>
            </p:nvSpPr>
            <p:spPr>
              <a:xfrm>
                <a:off x="1948722" y="5162925"/>
                <a:ext cx="2071711" cy="430887"/>
              </a:xfrm>
              <a:prstGeom prst="rect">
                <a:avLst/>
              </a:prstGeom>
              <a:noFill/>
              <a:ln>
                <a:noFill/>
              </a:ln>
            </p:spPr>
            <p:txBody>
              <a:bodyPr wrap="square" rtlCol="0">
                <a:spAutoFit/>
              </a:bodyPr>
              <a:lstStyle/>
              <a:p>
                <a:pPr algn="ctr" rtl="1"/>
                <a14:m>
                  <m:oMathPara xmlns:m="http://schemas.openxmlformats.org/officeDocument/2006/math">
                    <m:oMathParaPr>
                      <m:jc m:val="centerGroup"/>
                    </m:oMathParaPr>
                    <m:oMath xmlns:m="http://schemas.openxmlformats.org/officeDocument/2006/math">
                      <m:r>
                        <a:rPr lang="fa-IR" sz="2200" b="0" i="1" smtClean="0">
                          <a:latin typeface="Cambria Math" panose="02040503050406030204" pitchFamily="18" charset="0"/>
                        </a:rPr>
                        <m:t>−</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m:t>
                          </m:r>
                          <m:r>
                            <a:rPr lang="en-US" sz="2200" b="0" i="1" smtClean="0">
                              <a:latin typeface="Cambria Math" panose="02040503050406030204" pitchFamily="18" charset="0"/>
                            </a:rPr>
                            <m:t>7</m:t>
                          </m:r>
                        </m:e>
                      </m:d>
                      <m:r>
                        <a:rPr lang="en-US" sz="2200" b="0" i="1" smtClean="0">
                          <a:latin typeface="Cambria Math" panose="02040503050406030204" pitchFamily="18" charset="0"/>
                        </a:rPr>
                        <m:t>=</m:t>
                      </m:r>
                    </m:oMath>
                  </m:oMathPara>
                </a14:m>
                <a:endParaRPr lang="en-US" sz="2200" b="0" dirty="0"/>
              </a:p>
            </p:txBody>
          </p:sp>
        </mc:Choice>
        <mc:Fallback xmlns="">
          <p:sp>
            <p:nvSpPr>
              <p:cNvPr id="9" name="TextBox 8">
                <a:extLst>
                  <a:ext uri="{FF2B5EF4-FFF2-40B4-BE49-F238E27FC236}">
                    <a16:creationId xmlns:a16="http://schemas.microsoft.com/office/drawing/2014/main" id="{18328172-1B86-7B7A-0F9B-DF7E809502D6}"/>
                  </a:ext>
                </a:extLst>
              </p:cNvPr>
              <p:cNvSpPr txBox="1">
                <a:spLocks noRot="1" noChangeAspect="1" noMove="1" noResize="1" noEditPoints="1" noAdjustHandles="1" noChangeArrowheads="1" noChangeShapeType="1" noTextEdit="1"/>
              </p:cNvSpPr>
              <p:nvPr/>
            </p:nvSpPr>
            <p:spPr>
              <a:xfrm>
                <a:off x="1948722" y="5162925"/>
                <a:ext cx="2071711" cy="430887"/>
              </a:xfrm>
              <a:prstGeom prst="rect">
                <a:avLst/>
              </a:prstGeom>
              <a:blipFill>
                <a:blip r:embed="rId2"/>
                <a:stretch>
                  <a:fillRect r="-382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63F0EA5-4D0F-3D13-89AD-3C62503E0FDD}"/>
                  </a:ext>
                </a:extLst>
              </p:cNvPr>
              <p:cNvSpPr txBox="1"/>
              <p:nvPr/>
            </p:nvSpPr>
            <p:spPr>
              <a:xfrm>
                <a:off x="2065492" y="5646339"/>
                <a:ext cx="2071711" cy="474489"/>
              </a:xfrm>
              <a:prstGeom prst="rect">
                <a:avLst/>
              </a:prstGeom>
              <a:noFill/>
              <a:ln>
                <a:noFill/>
              </a:ln>
            </p:spPr>
            <p:txBody>
              <a:bodyPr wrap="square" rtlCol="0">
                <a:spAutoFit/>
              </a:bodyPr>
              <a:lstStyle/>
              <a:p>
                <a:pPr algn="ctr"/>
                <a14:m>
                  <m:oMathPara xmlns:m="http://schemas.openxmlformats.org/officeDocument/2006/math">
                    <m:oMathParaPr>
                      <m:jc m:val="right"/>
                    </m:oMathParaPr>
                    <m:oMath xmlns:m="http://schemas.openxmlformats.org/officeDocument/2006/math">
                      <m:r>
                        <a:rPr lang="en-US" sz="2200" i="1">
                          <a:latin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m:t>
                              </m:r>
                              <m:r>
                                <a:rPr lang="en-US" sz="2200" i="1">
                                  <a:latin typeface="Cambria Math" panose="02040503050406030204" pitchFamily="18" charset="0"/>
                                </a:rPr>
                                <m:t>3</m:t>
                              </m:r>
                            </m:e>
                          </m:d>
                        </m:e>
                      </m:d>
                      <m:r>
                        <a:rPr lang="en-US" sz="2200" i="1">
                          <a:latin typeface="Cambria Math" panose="02040503050406030204" pitchFamily="18" charset="0"/>
                        </a:rPr>
                        <m:t>=</m:t>
                      </m:r>
                    </m:oMath>
                  </m:oMathPara>
                </a14:m>
                <a:endParaRPr lang="en-US" sz="2200" dirty="0"/>
              </a:p>
            </p:txBody>
          </p:sp>
        </mc:Choice>
        <mc:Fallback xmlns="">
          <p:sp>
            <p:nvSpPr>
              <p:cNvPr id="10" name="TextBox 9">
                <a:extLst>
                  <a:ext uri="{FF2B5EF4-FFF2-40B4-BE49-F238E27FC236}">
                    <a16:creationId xmlns:a16="http://schemas.microsoft.com/office/drawing/2014/main" id="{263F0EA5-4D0F-3D13-89AD-3C62503E0FDD}"/>
                  </a:ext>
                </a:extLst>
              </p:cNvPr>
              <p:cNvSpPr txBox="1">
                <a:spLocks noRot="1" noChangeAspect="1" noMove="1" noResize="1" noEditPoints="1" noAdjustHandles="1" noChangeArrowheads="1" noChangeShapeType="1" noTextEdit="1"/>
              </p:cNvSpPr>
              <p:nvPr/>
            </p:nvSpPr>
            <p:spPr>
              <a:xfrm>
                <a:off x="2065492" y="5646339"/>
                <a:ext cx="2071711" cy="474489"/>
              </a:xfrm>
              <a:prstGeom prst="rect">
                <a:avLst/>
              </a:prstGeom>
              <a:blipFill>
                <a:blip r:embed="rId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434235B-704D-B1CC-0AAD-33D6AA156012}"/>
                  </a:ext>
                </a:extLst>
              </p:cNvPr>
              <p:cNvSpPr txBox="1"/>
              <p:nvPr/>
            </p:nvSpPr>
            <p:spPr>
              <a:xfrm>
                <a:off x="4020433" y="5162925"/>
                <a:ext cx="2071711" cy="430887"/>
              </a:xfrm>
              <a:prstGeom prst="rect">
                <a:avLst/>
              </a:prstGeom>
              <a:noFill/>
              <a:ln>
                <a:noFill/>
              </a:ln>
            </p:spPr>
            <p:txBody>
              <a:bodyPr wrap="square" rtlCol="0">
                <a:spAutoFit/>
              </a:bodyPr>
              <a:lstStyle/>
              <a:p>
                <a:pPr algn="ctr" rtl="1"/>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m:t>
                      </m:r>
                      <m:r>
                        <a:rPr lang="en-US" sz="2200" b="0" i="1" smtClean="0">
                          <a:latin typeface="Cambria Math" panose="02040503050406030204" pitchFamily="18" charset="0"/>
                        </a:rPr>
                        <m:t>7</m:t>
                      </m:r>
                    </m:oMath>
                  </m:oMathPara>
                </a14:m>
                <a:endParaRPr lang="en-US" sz="2200" b="0" dirty="0"/>
              </a:p>
            </p:txBody>
          </p:sp>
        </mc:Choice>
        <mc:Fallback xmlns="">
          <p:sp>
            <p:nvSpPr>
              <p:cNvPr id="12" name="TextBox 11">
                <a:extLst>
                  <a:ext uri="{FF2B5EF4-FFF2-40B4-BE49-F238E27FC236}">
                    <a16:creationId xmlns:a16="http://schemas.microsoft.com/office/drawing/2014/main" id="{6434235B-704D-B1CC-0AAD-33D6AA156012}"/>
                  </a:ext>
                </a:extLst>
              </p:cNvPr>
              <p:cNvSpPr txBox="1">
                <a:spLocks noRot="1" noChangeAspect="1" noMove="1" noResize="1" noEditPoints="1" noAdjustHandles="1" noChangeArrowheads="1" noChangeShapeType="1" noTextEdit="1"/>
              </p:cNvSpPr>
              <p:nvPr/>
            </p:nvSpPr>
            <p:spPr>
              <a:xfrm>
                <a:off x="4020433" y="5162925"/>
                <a:ext cx="2071711" cy="430887"/>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76FFE37-E94D-06A3-B7F5-507E09D74A45}"/>
                  </a:ext>
                </a:extLst>
              </p:cNvPr>
              <p:cNvSpPr txBox="1"/>
              <p:nvPr/>
            </p:nvSpPr>
            <p:spPr>
              <a:xfrm>
                <a:off x="4020433" y="5668139"/>
                <a:ext cx="2071711" cy="430887"/>
              </a:xfrm>
              <a:prstGeom prst="rect">
                <a:avLst/>
              </a:prstGeom>
              <a:noFill/>
              <a:ln>
                <a:noFill/>
              </a:ln>
            </p:spPr>
            <p:txBody>
              <a:bodyPr wrap="square" rtlCol="0">
                <a:spAutoFit/>
              </a:bodyPr>
              <a:lstStyle/>
              <a:p>
                <a:pPr algn="ctr" rtl="1"/>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m:t>
                      </m:r>
                      <m:r>
                        <a:rPr lang="en-US" sz="2200" b="0" i="1" smtClean="0">
                          <a:latin typeface="Cambria Math" panose="02040503050406030204" pitchFamily="18" charset="0"/>
                        </a:rPr>
                        <m:t>3</m:t>
                      </m:r>
                    </m:oMath>
                  </m:oMathPara>
                </a14:m>
                <a:endParaRPr lang="en-US" sz="2200" b="0" dirty="0"/>
              </a:p>
            </p:txBody>
          </p:sp>
        </mc:Choice>
        <mc:Fallback xmlns="">
          <p:sp>
            <p:nvSpPr>
              <p:cNvPr id="13" name="TextBox 12">
                <a:extLst>
                  <a:ext uri="{FF2B5EF4-FFF2-40B4-BE49-F238E27FC236}">
                    <a16:creationId xmlns:a16="http://schemas.microsoft.com/office/drawing/2014/main" id="{476FFE37-E94D-06A3-B7F5-507E09D74A45}"/>
                  </a:ext>
                </a:extLst>
              </p:cNvPr>
              <p:cNvSpPr txBox="1">
                <a:spLocks noRot="1" noChangeAspect="1" noMove="1" noResize="1" noEditPoints="1" noAdjustHandles="1" noChangeArrowheads="1" noChangeShapeType="1" noTextEdit="1"/>
              </p:cNvSpPr>
              <p:nvPr/>
            </p:nvSpPr>
            <p:spPr>
              <a:xfrm>
                <a:off x="4020433" y="5668139"/>
                <a:ext cx="2071711" cy="430887"/>
              </a:xfrm>
              <a:prstGeom prst="rect">
                <a:avLst/>
              </a:prstGeom>
              <a:blipFill>
                <a:blip r:embed="rId5"/>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6BEDCC-8E1D-C606-8A2A-9D310E175CFC}"/>
                  </a:ext>
                </a:extLst>
              </p:cNvPr>
              <p:cNvSpPr txBox="1"/>
              <p:nvPr/>
            </p:nvSpPr>
            <p:spPr>
              <a:xfrm>
                <a:off x="6092144" y="5088598"/>
                <a:ext cx="2071711" cy="430887"/>
              </a:xfrm>
              <a:prstGeom prst="rect">
                <a:avLst/>
              </a:prstGeom>
              <a:noFill/>
              <a:ln>
                <a:noFill/>
              </a:ln>
            </p:spPr>
            <p:txBody>
              <a:bodyPr wrap="square" rtlCol="0">
                <a:spAutoFit/>
              </a:bodyPr>
              <a:lstStyle/>
              <a:p>
                <a:pPr algn="ctr" rtl="1"/>
                <a14:m>
                  <m:oMathPara xmlns:m="http://schemas.openxmlformats.org/officeDocument/2006/math">
                    <m:oMathParaPr>
                      <m:jc m:val="right"/>
                    </m:oMathParaPr>
                    <m:oMath xmlns:m="http://schemas.openxmlformats.org/officeDocument/2006/math">
                      <m:r>
                        <a:rPr lang="en-US" sz="2200" b="0" i="1" smtClean="0">
                          <a:latin typeface="Cambria Math" panose="02040503050406030204" pitchFamily="18" charset="0"/>
                        </a:rPr>
                        <m:t>−</m:t>
                      </m:r>
                      <m:d>
                        <m:dPr>
                          <m:ctrlPr>
                            <a:rPr lang="en-US" sz="2200" b="0" i="1" smtClean="0">
                              <a:latin typeface="Cambria Math" panose="02040503050406030204" pitchFamily="18" charset="0"/>
                            </a:rPr>
                          </m:ctrlPr>
                        </m:dPr>
                        <m:e>
                          <m:r>
                            <a:rPr lang="en-US" sz="2200" b="0" i="1" smtClean="0">
                              <a:latin typeface="Cambria Math" panose="02040503050406030204" pitchFamily="18" charset="0"/>
                            </a:rPr>
                            <m:t>−</m:t>
                          </m:r>
                          <m:r>
                            <a:rPr lang="en-US" sz="2200" b="0" i="1" smtClean="0">
                              <a:latin typeface="Cambria Math" panose="02040503050406030204" pitchFamily="18" charset="0"/>
                            </a:rPr>
                            <m:t>12</m:t>
                          </m:r>
                        </m:e>
                      </m:d>
                      <m:r>
                        <a:rPr lang="en-US" sz="2200" b="0" i="1" smtClean="0">
                          <a:latin typeface="Cambria Math" panose="02040503050406030204" pitchFamily="18" charset="0"/>
                        </a:rPr>
                        <m:t>=</m:t>
                      </m:r>
                    </m:oMath>
                  </m:oMathPara>
                </a14:m>
                <a:endParaRPr lang="en-US" sz="2200" b="0" dirty="0"/>
              </a:p>
            </p:txBody>
          </p:sp>
        </mc:Choice>
        <mc:Fallback xmlns="">
          <p:sp>
            <p:nvSpPr>
              <p:cNvPr id="14" name="TextBox 13">
                <a:extLst>
                  <a:ext uri="{FF2B5EF4-FFF2-40B4-BE49-F238E27FC236}">
                    <a16:creationId xmlns:a16="http://schemas.microsoft.com/office/drawing/2014/main" id="{906BEDCC-8E1D-C606-8A2A-9D310E175CFC}"/>
                  </a:ext>
                </a:extLst>
              </p:cNvPr>
              <p:cNvSpPr txBox="1">
                <a:spLocks noRot="1" noChangeAspect="1" noMove="1" noResize="1" noEditPoints="1" noAdjustHandles="1" noChangeArrowheads="1" noChangeShapeType="1" noTextEdit="1"/>
              </p:cNvSpPr>
              <p:nvPr/>
            </p:nvSpPr>
            <p:spPr>
              <a:xfrm>
                <a:off x="6092144" y="5088598"/>
                <a:ext cx="2071711" cy="430887"/>
              </a:xfrm>
              <a:prstGeom prst="rect">
                <a:avLst/>
              </a:prstGeom>
              <a:blipFill>
                <a:blip r:embed="rId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41EF142-5B95-3948-5966-3EA0547DF920}"/>
                  </a:ext>
                </a:extLst>
              </p:cNvPr>
              <p:cNvSpPr txBox="1"/>
              <p:nvPr/>
            </p:nvSpPr>
            <p:spPr>
              <a:xfrm>
                <a:off x="6208914" y="5572012"/>
                <a:ext cx="2071711" cy="474489"/>
              </a:xfrm>
              <a:prstGeom prst="rect">
                <a:avLst/>
              </a:prstGeom>
              <a:noFill/>
              <a:ln>
                <a:noFill/>
              </a:ln>
            </p:spPr>
            <p:txBody>
              <a:bodyPr wrap="square" rtlCol="0">
                <a:spAutoFit/>
              </a:bodyPr>
              <a:lstStyle/>
              <a:p>
                <a:pPr algn="ctr"/>
                <a14:m>
                  <m:oMathPara xmlns:m="http://schemas.openxmlformats.org/officeDocument/2006/math">
                    <m:oMathParaPr>
                      <m:jc m:val="right"/>
                    </m:oMathParaPr>
                    <m:oMath xmlns:m="http://schemas.openxmlformats.org/officeDocument/2006/math">
                      <m:r>
                        <a:rPr lang="en-US" sz="2200" i="1" smtClean="0">
                          <a:latin typeface="Cambria Math" panose="02040503050406030204" pitchFamily="18" charset="0"/>
                        </a:rPr>
                        <m:t>−</m:t>
                      </m:r>
                      <m:d>
                        <m:dPr>
                          <m:ctrlPr>
                            <a:rPr lang="en-US" sz="2200" i="1">
                              <a:latin typeface="Cambria Math" panose="02040503050406030204" pitchFamily="18" charset="0"/>
                            </a:rPr>
                          </m:ctrlPr>
                        </m:dPr>
                        <m:e>
                          <m:r>
                            <a:rPr lang="en-US" sz="2200" i="1">
                              <a:latin typeface="Cambria Math" panose="02040503050406030204" pitchFamily="18" charset="0"/>
                            </a:rPr>
                            <m:t>−</m:t>
                          </m:r>
                          <m:d>
                            <m:dPr>
                              <m:ctrlPr>
                                <a:rPr lang="en-US" sz="2200" i="1">
                                  <a:latin typeface="Cambria Math" panose="02040503050406030204" pitchFamily="18" charset="0"/>
                                </a:rPr>
                              </m:ctrlPr>
                            </m:dPr>
                            <m:e>
                              <m:r>
                                <a:rPr lang="en-US" sz="2200" b="0" i="1" smtClean="0">
                                  <a:latin typeface="Cambria Math" panose="02040503050406030204" pitchFamily="18" charset="0"/>
                                </a:rPr>
                                <m:t>+</m:t>
                              </m:r>
                              <m:r>
                                <a:rPr lang="en-US" sz="2200" b="0" i="1" smtClean="0">
                                  <a:latin typeface="Cambria Math" panose="02040503050406030204" pitchFamily="18" charset="0"/>
                                </a:rPr>
                                <m:t>2</m:t>
                              </m:r>
                            </m:e>
                          </m:d>
                        </m:e>
                      </m:d>
                      <m:r>
                        <a:rPr lang="en-US" sz="2200" i="1">
                          <a:latin typeface="Cambria Math" panose="02040503050406030204" pitchFamily="18" charset="0"/>
                        </a:rPr>
                        <m:t>=</m:t>
                      </m:r>
                    </m:oMath>
                  </m:oMathPara>
                </a14:m>
                <a:endParaRPr lang="en-US" sz="2200" dirty="0"/>
              </a:p>
            </p:txBody>
          </p:sp>
        </mc:Choice>
        <mc:Fallback xmlns="">
          <p:sp>
            <p:nvSpPr>
              <p:cNvPr id="15" name="TextBox 14">
                <a:extLst>
                  <a:ext uri="{FF2B5EF4-FFF2-40B4-BE49-F238E27FC236}">
                    <a16:creationId xmlns:a16="http://schemas.microsoft.com/office/drawing/2014/main" id="{B41EF142-5B95-3948-5966-3EA0547DF920}"/>
                  </a:ext>
                </a:extLst>
              </p:cNvPr>
              <p:cNvSpPr txBox="1">
                <a:spLocks noRot="1" noChangeAspect="1" noMove="1" noResize="1" noEditPoints="1" noAdjustHandles="1" noChangeArrowheads="1" noChangeShapeType="1" noTextEdit="1"/>
              </p:cNvSpPr>
              <p:nvPr/>
            </p:nvSpPr>
            <p:spPr>
              <a:xfrm>
                <a:off x="6208914" y="5572012"/>
                <a:ext cx="2071711" cy="474489"/>
              </a:xfrm>
              <a:prstGeom prst="rect">
                <a:avLst/>
              </a:prstGeom>
              <a:blipFill>
                <a:blip r:embed="rId7"/>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DC9D3ED-191F-BCCD-CF60-607BDCFCBC78}"/>
                  </a:ext>
                </a:extLst>
              </p:cNvPr>
              <p:cNvSpPr txBox="1"/>
              <p:nvPr/>
            </p:nvSpPr>
            <p:spPr>
              <a:xfrm>
                <a:off x="8163855" y="5088598"/>
                <a:ext cx="2071711" cy="430887"/>
              </a:xfrm>
              <a:prstGeom prst="rect">
                <a:avLst/>
              </a:prstGeom>
              <a:noFill/>
              <a:ln>
                <a:noFill/>
              </a:ln>
            </p:spPr>
            <p:txBody>
              <a:bodyPr wrap="square" rtlCol="0">
                <a:spAutoFit/>
              </a:bodyPr>
              <a:lstStyle/>
              <a:p>
                <a:pPr algn="ctr" rtl="1"/>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m:t>
                      </m:r>
                      <m:r>
                        <a:rPr lang="en-US" sz="2200" b="0" i="1" smtClean="0">
                          <a:latin typeface="Cambria Math" panose="02040503050406030204" pitchFamily="18" charset="0"/>
                        </a:rPr>
                        <m:t>12</m:t>
                      </m:r>
                    </m:oMath>
                  </m:oMathPara>
                </a14:m>
                <a:endParaRPr lang="en-US" sz="2200" b="0" dirty="0"/>
              </a:p>
            </p:txBody>
          </p:sp>
        </mc:Choice>
        <mc:Fallback xmlns="">
          <p:sp>
            <p:nvSpPr>
              <p:cNvPr id="16" name="TextBox 15">
                <a:extLst>
                  <a:ext uri="{FF2B5EF4-FFF2-40B4-BE49-F238E27FC236}">
                    <a16:creationId xmlns:a16="http://schemas.microsoft.com/office/drawing/2014/main" id="{4DC9D3ED-191F-BCCD-CF60-607BDCFCBC78}"/>
                  </a:ext>
                </a:extLst>
              </p:cNvPr>
              <p:cNvSpPr txBox="1">
                <a:spLocks noRot="1" noChangeAspect="1" noMove="1" noResize="1" noEditPoints="1" noAdjustHandles="1" noChangeArrowheads="1" noChangeShapeType="1" noTextEdit="1"/>
              </p:cNvSpPr>
              <p:nvPr/>
            </p:nvSpPr>
            <p:spPr>
              <a:xfrm>
                <a:off x="8163855" y="5088598"/>
                <a:ext cx="2071711" cy="430887"/>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21F0654-14D3-AA4F-7C6F-9784983475C2}"/>
                  </a:ext>
                </a:extLst>
              </p:cNvPr>
              <p:cNvSpPr txBox="1"/>
              <p:nvPr/>
            </p:nvSpPr>
            <p:spPr>
              <a:xfrm>
                <a:off x="8163855" y="5593812"/>
                <a:ext cx="2071711" cy="430887"/>
              </a:xfrm>
              <a:prstGeom prst="rect">
                <a:avLst/>
              </a:prstGeom>
              <a:noFill/>
              <a:ln>
                <a:noFill/>
              </a:ln>
            </p:spPr>
            <p:txBody>
              <a:bodyPr wrap="square" rtlCol="0">
                <a:spAutoFit/>
              </a:bodyPr>
              <a:lstStyle/>
              <a:p>
                <a:pPr algn="ctr" rtl="1"/>
                <a14:m>
                  <m:oMathPara xmlns:m="http://schemas.openxmlformats.org/officeDocument/2006/math">
                    <m:oMathParaPr>
                      <m:jc m:val="left"/>
                    </m:oMathParaPr>
                    <m:oMath xmlns:m="http://schemas.openxmlformats.org/officeDocument/2006/math">
                      <m:r>
                        <a:rPr lang="en-US" sz="2200" b="0" i="1" smtClean="0">
                          <a:latin typeface="Cambria Math" panose="02040503050406030204" pitchFamily="18" charset="0"/>
                        </a:rPr>
                        <m:t>+</m:t>
                      </m:r>
                      <m:r>
                        <a:rPr lang="en-US" sz="2200" b="0" i="1" smtClean="0">
                          <a:latin typeface="Cambria Math" panose="02040503050406030204" pitchFamily="18" charset="0"/>
                        </a:rPr>
                        <m:t>2</m:t>
                      </m:r>
                    </m:oMath>
                  </m:oMathPara>
                </a14:m>
                <a:endParaRPr lang="en-US" sz="2200" b="0" dirty="0"/>
              </a:p>
            </p:txBody>
          </p:sp>
        </mc:Choice>
        <mc:Fallback xmlns="">
          <p:sp>
            <p:nvSpPr>
              <p:cNvPr id="17" name="TextBox 16">
                <a:extLst>
                  <a:ext uri="{FF2B5EF4-FFF2-40B4-BE49-F238E27FC236}">
                    <a16:creationId xmlns:a16="http://schemas.microsoft.com/office/drawing/2014/main" id="{A21F0654-14D3-AA4F-7C6F-9784983475C2}"/>
                  </a:ext>
                </a:extLst>
              </p:cNvPr>
              <p:cNvSpPr txBox="1">
                <a:spLocks noRot="1" noChangeAspect="1" noMove="1" noResize="1" noEditPoints="1" noAdjustHandles="1" noChangeArrowheads="1" noChangeShapeType="1" noTextEdit="1"/>
              </p:cNvSpPr>
              <p:nvPr/>
            </p:nvSpPr>
            <p:spPr>
              <a:xfrm>
                <a:off x="8163855" y="5593812"/>
                <a:ext cx="2071711" cy="430887"/>
              </a:xfrm>
              <a:prstGeom prst="rect">
                <a:avLst/>
              </a:prstGeom>
              <a:blipFill>
                <a:blip r:embed="rId9"/>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1435206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grpId="2"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1000" fill="hold"/>
                                        <p:tgtEl>
                                          <p:spTgt spid="4"/>
                                        </p:tgtEl>
                                        <p:attrNameLst>
                                          <p:attrName>ppt_w</p:attrName>
                                        </p:attrNameLst>
                                      </p:cBhvr>
                                      <p:tavLst>
                                        <p:tav tm="0">
                                          <p:val>
                                            <p:fltVal val="0"/>
                                          </p:val>
                                        </p:tav>
                                        <p:tav tm="100000">
                                          <p:val>
                                            <p:strVal val="#ppt_w"/>
                                          </p:val>
                                        </p:tav>
                                      </p:tavLst>
                                    </p:anim>
                                    <p:anim calcmode="lin" valueType="num">
                                      <p:cBhvr>
                                        <p:cTn id="18" dur="1000" fill="hold"/>
                                        <p:tgtEl>
                                          <p:spTgt spid="4"/>
                                        </p:tgtEl>
                                        <p:attrNameLst>
                                          <p:attrName>ppt_h</p:attrName>
                                        </p:attrNameLst>
                                      </p:cBhvr>
                                      <p:tavLst>
                                        <p:tav tm="0">
                                          <p:val>
                                            <p:fltVal val="0"/>
                                          </p:val>
                                        </p:tav>
                                        <p:tav tm="100000">
                                          <p:val>
                                            <p:strVal val="#ppt_h"/>
                                          </p:val>
                                        </p:tav>
                                      </p:tavLst>
                                    </p:anim>
                                    <p:anim calcmode="lin" valueType="num">
                                      <p:cBhvr>
                                        <p:cTn id="19" dur="1000" fill="hold"/>
                                        <p:tgtEl>
                                          <p:spTgt spid="4"/>
                                        </p:tgtEl>
                                        <p:attrNameLst>
                                          <p:attrName>style.rotation</p:attrName>
                                        </p:attrNameLst>
                                      </p:cBhvr>
                                      <p:tavLst>
                                        <p:tav tm="0">
                                          <p:val>
                                            <p:fltVal val="90"/>
                                          </p:val>
                                        </p:tav>
                                        <p:tav tm="100000">
                                          <p:val>
                                            <p:fltVal val="0"/>
                                          </p:val>
                                        </p:tav>
                                      </p:tavLst>
                                    </p:anim>
                                    <p:animEffect transition="in" filter="fade">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6" presetClass="emph" presetSubtype="0" fill="hold" grpId="1" nodeType="clickEffect">
                                  <p:stCondLst>
                                    <p:cond delay="0"/>
                                  </p:stCondLst>
                                  <p:childTnLst>
                                    <p:animEffect transition="out" filter="fade">
                                      <p:cBhvr>
                                        <p:cTn id="24" dur="3500" tmFilter="0, 0; .2, .5; .8, .5; 1, 0"/>
                                        <p:tgtEl>
                                          <p:spTgt spid="4"/>
                                        </p:tgtEl>
                                      </p:cBhvr>
                                    </p:animEffect>
                                    <p:animScale>
                                      <p:cBhvr>
                                        <p:cTn id="25" dur="1750" autoRev="1" fill="hold"/>
                                        <p:tgtEl>
                                          <p:spTgt spid="4"/>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down)">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iterate type="lt">
                                    <p:tmAbs val="100"/>
                                  </p:iterate>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iterate type="lt">
                                    <p:tmAbs val="100"/>
                                  </p:iterate>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iterate type="lt">
                                    <p:tmAbs val="100"/>
                                  </p:iterate>
                                  <p:childTnLst>
                                    <p:set>
                                      <p:cBhvr>
                                        <p:cTn id="4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wipe(down)">
                                      <p:cBhvr>
                                        <p:cTn id="47" dur="500"/>
                                        <p:tgtEl>
                                          <p:spTgt spid="3">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wipe(right)">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left)">
                                      <p:cBhvr>
                                        <p:cTn id="62" dur="500"/>
                                        <p:tgtEl>
                                          <p:spTgt spid="1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2" fill="hold" grpId="0"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right)">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wipe(right)">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wipe(left)">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grpId="0"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right)">
                                      <p:cBhvr>
                                        <p:cTn id="8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P spid="4" grpId="2"/>
      <p:bldP spid="9" grpId="0"/>
      <p:bldP spid="10" grpId="0"/>
      <p:bldP spid="12" grpId="0"/>
      <p:bldP spid="13" grpId="0"/>
      <p:bldP spid="14" grpId="0"/>
      <p:bldP spid="15"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lnSpcReduction="10000"/>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جمع و تفریق اعداد صحیح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r>
              <a:rPr lang="fa-IR" spc="-150" dirty="0">
                <a:latin typeface="Vazirmatn Light" pitchFamily="2" charset="-78"/>
                <a:cs typeface="Vazirmatn Light" pitchFamily="2" charset="-78"/>
              </a:rPr>
              <a:t>برای محاسبه ی حاصل جمع و یا تفریق عدد های صحیح ابتدا مختصر نویسی (ساده نویسی) می کنیم به اینصورت که پرانتزها رو حذف کرده ،سپس اگر عددی بیشتر از یک علامت داشته باشد،علامت های آن ها را درهم ضرب می کنیم تا به یک علامت تبدیل شود.</a:t>
            </a:r>
          </a:p>
          <a:p>
            <a:pPr marL="0" indent="0" algn="r" rtl="1">
              <a:lnSpc>
                <a:spcPct val="100000"/>
              </a:lnSpc>
              <a:buNone/>
            </a:pPr>
            <a:r>
              <a:rPr lang="fa-IR" sz="5800" spc="-150" dirty="0">
                <a:solidFill>
                  <a:srgbClr val="FF3300"/>
                </a:solidFill>
                <a:latin typeface="Digi Aisa Bold" panose="02000806080000060004" pitchFamily="2" charset="-78"/>
                <a:cs typeface="Digi Aisa Bold" panose="02000806080000060004" pitchFamily="2" charset="-78"/>
              </a:rPr>
              <a:t>آنگاه با یکی از دو حالت روبرو مواجه می شویم:</a:t>
            </a:r>
            <a:endParaRPr lang="en-US" sz="5800" spc="-150" dirty="0">
              <a:solidFill>
                <a:srgbClr val="FF3300"/>
              </a:solidFill>
              <a:latin typeface="Digi Aisa Bold" panose="02000806080000060004" pitchFamily="2" charset="-78"/>
              <a:cs typeface="Digi Aisa Bold" panose="02000806080000060004" pitchFamily="2" charset="-78"/>
            </a:endParaRPr>
          </a:p>
          <a:p>
            <a:pPr marL="0" indent="0" algn="r" rtl="1">
              <a:lnSpc>
                <a:spcPct val="100000"/>
              </a:lnSpc>
              <a:buNone/>
            </a:pPr>
            <a:r>
              <a:rPr lang="fa-IR" sz="5400" spc="-150" dirty="0">
                <a:solidFill>
                  <a:schemeClr val="accent6">
                    <a:lumMod val="50000"/>
                  </a:schemeClr>
                </a:solidFill>
                <a:latin typeface="Shabnam" panose="020B0603030804020204" pitchFamily="34" charset="-78"/>
                <a:cs typeface="A Shekari" panose="00000400000000000000" pitchFamily="2" charset="-78"/>
              </a:rPr>
              <a:t>حالت اول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00000"/>
              </a:lnSpc>
              <a:spcBef>
                <a:spcPts val="1500"/>
              </a:spcBef>
              <a:buNone/>
            </a:pPr>
            <a:r>
              <a:rPr lang="fa-IR" spc="-150" dirty="0">
                <a:latin typeface="Vazirmatn Light" pitchFamily="2" charset="-78"/>
                <a:cs typeface="Vazirmatn Light" pitchFamily="2" charset="-78"/>
              </a:rPr>
              <a:t>عدد ها هم علامت باشند در این حالت یکی از علامت ها را نوشته، سپس عدد ها را با هم جمع می کنیم</a:t>
            </a:r>
          </a:p>
          <a:p>
            <a:pPr marL="0" indent="0" algn="r" rtl="1">
              <a:lnSpc>
                <a:spcPct val="100000"/>
              </a:lnSpc>
              <a:spcBef>
                <a:spcPts val="50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مثال :</a:t>
            </a:r>
          </a:p>
          <a:p>
            <a:pPr marL="0" indent="0" rtl="1">
              <a:lnSpc>
                <a:spcPct val="100000"/>
              </a:lnSpc>
              <a:spcBef>
                <a:spcPts val="1500"/>
              </a:spcBef>
              <a:buNone/>
            </a:pPr>
            <a:endParaRPr lang="en-US" spc="-150" dirty="0">
              <a:solidFill>
                <a:srgbClr val="063E2F"/>
              </a:solidFill>
              <a:latin typeface="Shabnam" panose="020B0603030804020204" pitchFamily="34" charset="-78"/>
              <a:cs typeface="Shabnam" panose="020B0603030804020204" pitchFamily="34" charset="-78"/>
            </a:endParaRPr>
          </a:p>
          <a:p>
            <a:pPr marL="0" indent="0" algn="r" rtl="1">
              <a:lnSpc>
                <a:spcPct val="100000"/>
              </a:lnSpc>
              <a:spcBef>
                <a:spcPts val="1500"/>
              </a:spcBef>
              <a:buNone/>
            </a:pPr>
            <a:endParaRPr lang="en-US" spc="-150" dirty="0">
              <a:latin typeface="Shabnam" panose="020B0603030804020204" pitchFamily="34" charset="-78"/>
              <a:cs typeface="Shabnam" panose="020B0603030804020204" pitchFamily="34" charset="-78"/>
            </a:endParaRPr>
          </a:p>
          <a:p>
            <a:pPr marL="0" indent="0" algn="r" rtl="1">
              <a:buNone/>
            </a:pPr>
            <a:endParaRPr lang="en-US" spc="-150" dirty="0">
              <a:solidFill>
                <a:schemeClr val="accent6">
                  <a:lumMod val="50000"/>
                </a:schemeClr>
              </a:solidFill>
              <a:latin typeface="Shabnam" panose="020B0603030804020204" pitchFamily="34" charset="-78"/>
              <a:cs typeface="Shabnam" panose="020B0603030804020204" pitchFamily="34" charset="-78"/>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6C13CD5-12A8-245C-4F1D-44834663DCCA}"/>
                  </a:ext>
                </a:extLst>
              </p:cNvPr>
              <p:cNvSpPr txBox="1"/>
              <p:nvPr/>
            </p:nvSpPr>
            <p:spPr>
              <a:xfrm>
                <a:off x="164881" y="5842418"/>
                <a:ext cx="4691921"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8</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6</m:t>
                          </m:r>
                        </m:e>
                      </m:d>
                      <m:r>
                        <a:rPr lang="en-US" sz="2400" b="0" i="1" smtClean="0">
                          <a:latin typeface="Cambria Math" panose="02040503050406030204" pitchFamily="18" charset="0"/>
                        </a:rPr>
                        <m:t>= +</m:t>
                      </m:r>
                      <m:r>
                        <a:rPr lang="en-US" sz="2400" b="0" i="1" smtClean="0">
                          <a:latin typeface="Cambria Math" panose="02040503050406030204" pitchFamily="18" charset="0"/>
                        </a:rPr>
                        <m:t>8</m:t>
                      </m:r>
                      <m:r>
                        <a:rPr lang="en-US" sz="2400" b="0" i="1" smtClean="0">
                          <a:latin typeface="Cambria Math" panose="02040503050406030204" pitchFamily="18" charset="0"/>
                        </a:rPr>
                        <m:t>+</m:t>
                      </m:r>
                      <m:r>
                        <a:rPr lang="en-US" sz="2400" b="0" i="1" smtClean="0">
                          <a:latin typeface="Cambria Math" panose="02040503050406030204" pitchFamily="18" charset="0"/>
                        </a:rPr>
                        <m:t>6</m:t>
                      </m:r>
                      <m:r>
                        <a:rPr lang="en-US" sz="2400" b="0" i="1" smtClean="0">
                          <a:latin typeface="Cambria Math" panose="02040503050406030204" pitchFamily="18" charset="0"/>
                        </a:rPr>
                        <m:t>= +</m:t>
                      </m:r>
                      <m:r>
                        <a:rPr lang="en-US" sz="2400" b="0" i="1" smtClean="0">
                          <a:latin typeface="Cambria Math" panose="02040503050406030204" pitchFamily="18" charset="0"/>
                        </a:rPr>
                        <m:t>14</m:t>
                      </m:r>
                    </m:oMath>
                  </m:oMathPara>
                </a14:m>
                <a:endParaRPr lang="en-US" sz="2400" dirty="0"/>
              </a:p>
            </p:txBody>
          </p:sp>
        </mc:Choice>
        <mc:Fallback>
          <p:sp>
            <p:nvSpPr>
              <p:cNvPr id="6" name="TextBox 5">
                <a:extLst>
                  <a:ext uri="{FF2B5EF4-FFF2-40B4-BE49-F238E27FC236}">
                    <a16:creationId xmlns:a16="http://schemas.microsoft.com/office/drawing/2014/main" id="{66C13CD5-12A8-245C-4F1D-44834663DCCA}"/>
                  </a:ext>
                </a:extLst>
              </p:cNvPr>
              <p:cNvSpPr txBox="1">
                <a:spLocks noRot="1" noChangeAspect="1" noMove="1" noResize="1" noEditPoints="1" noAdjustHandles="1" noChangeArrowheads="1" noChangeShapeType="1" noTextEdit="1"/>
              </p:cNvSpPr>
              <p:nvPr/>
            </p:nvSpPr>
            <p:spPr>
              <a:xfrm>
                <a:off x="164881" y="5842418"/>
                <a:ext cx="4691921" cy="46166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63309204"/>
      </p:ext>
    </p:extLst>
  </p:cSld>
  <p:clrMapOvr>
    <a:masterClrMapping/>
  </p:clrMapOvr>
  <mc:AlternateContent xmlns:mc="http://schemas.openxmlformats.org/markup-compatibility/2006">
    <mc:Choice xmlns:p14="http://schemas.microsoft.com/office/powerpoint/2010/main" Requires="p14">
      <p:transition spd="slow" p14:dur="3400">
        <p14:reveal thruBlk="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6" presetClass="entr" presetSubtype="0" fill="hold" nodeType="clickEffect">
                                  <p:stCondLst>
                                    <p:cond delay="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 by="(-#ppt_w*2)" calcmode="lin" valueType="num">
                                      <p:cBhvr rctx="PPT">
                                        <p:cTn id="12" dur="150" autoRev="1" fill="hold">
                                          <p:stCondLst>
                                            <p:cond delay="0"/>
                                          </p:stCondLst>
                                        </p:cTn>
                                        <p:tgtEl>
                                          <p:spTgt spid="3">
                                            <p:txEl>
                                              <p:pRg st="1" end="1"/>
                                            </p:txEl>
                                          </p:spTgt>
                                        </p:tgtEl>
                                        <p:attrNameLst>
                                          <p:attrName>ppt_w</p:attrName>
                                        </p:attrNameLst>
                                      </p:cBhvr>
                                    </p:anim>
                                    <p:anim by="(#ppt_w*0.50)" calcmode="lin" valueType="num">
                                      <p:cBhvr>
                                        <p:cTn id="13" dur="150" decel="50000" autoRev="1" fill="hold">
                                          <p:stCondLst>
                                            <p:cond delay="0"/>
                                          </p:stCondLst>
                                        </p:cTn>
                                        <p:tgtEl>
                                          <p:spTgt spid="3">
                                            <p:txEl>
                                              <p:pRg st="1" end="1"/>
                                            </p:txEl>
                                          </p:spTgt>
                                        </p:tgtEl>
                                        <p:attrNameLst>
                                          <p:attrName>ppt_x</p:attrName>
                                        </p:attrNameLst>
                                      </p:cBhvr>
                                    </p:anim>
                                    <p:anim from="(-#ppt_h/2)" to="(#ppt_y)" calcmode="lin" valueType="num">
                                      <p:cBhvr>
                                        <p:cTn id="14" dur="300" fill="hold">
                                          <p:stCondLst>
                                            <p:cond delay="0"/>
                                          </p:stCondLst>
                                        </p:cTn>
                                        <p:tgtEl>
                                          <p:spTgt spid="3">
                                            <p:txEl>
                                              <p:pRg st="1" end="1"/>
                                            </p:txEl>
                                          </p:spTgt>
                                        </p:tgtEl>
                                        <p:attrNameLst>
                                          <p:attrName>ppt_y</p:attrName>
                                        </p:attrNameLst>
                                      </p:cBhvr>
                                    </p:anim>
                                    <p:animRot by="21600000">
                                      <p:cBhvr>
                                        <p:cTn id="15" dur="300" fill="hold">
                                          <p:stCondLst>
                                            <p:cond delay="0"/>
                                          </p:stCondLst>
                                        </p:cTn>
                                        <p:tgtEl>
                                          <p:spTgt spid="3">
                                            <p:txEl>
                                              <p:pRg st="1" end="1"/>
                                            </p:txEl>
                                          </p:spTgt>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down)">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down)">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wipe(down)">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wipe(down)">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900" decel="100000" fill="hold"/>
                                        <p:tgtEl>
                                          <p:spTgt spid="6"/>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حالت دوم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r>
              <a:rPr lang="fa-IR" spc="-150" dirty="0">
                <a:latin typeface="Vazirmatn Light" pitchFamily="2" charset="-78"/>
                <a:cs typeface="Vazirmatn Light" pitchFamily="2" charset="-78"/>
              </a:rPr>
              <a:t>عدد ها هم علامت نباشند. در این حالت علامت عددی که بزرگتر است (بدون در نظر گرفتن علامت) را نوشتہ سپس عدد ها را از هم کم می کنیم.</a:t>
            </a:r>
          </a:p>
          <a:p>
            <a:pPr marL="0" lvl="0" indent="0" algn="r" rtl="1">
              <a:lnSpc>
                <a:spcPct val="125000"/>
              </a:lnSpc>
              <a:spcBef>
                <a:spcPts val="2000"/>
              </a:spcBef>
              <a:buNone/>
            </a:pPr>
            <a:r>
              <a:rPr lang="fa-IR" sz="5000" spc="-150" dirty="0">
                <a:solidFill>
                  <a:srgbClr val="FF3300"/>
                </a:solidFill>
                <a:latin typeface="Digi Aisa Bold" panose="02000806080000060004" pitchFamily="2" charset="-78"/>
                <a:cs typeface="Digi Aisa Bold" panose="02000806080000060004" pitchFamily="2" charset="-78"/>
              </a:rPr>
              <a:t>نکته  : </a:t>
            </a:r>
            <a:r>
              <a:rPr lang="en-US" sz="5000" spc="-150" dirty="0">
                <a:solidFill>
                  <a:srgbClr val="FF3300"/>
                </a:solidFill>
                <a:latin typeface="Digi Aisa Bold" panose="02000806080000060004" pitchFamily="2" charset="-78"/>
                <a:cs typeface="Digi Aisa Bold" panose="02000806080000060004" pitchFamily="2" charset="-78"/>
              </a:rPr>
              <a:t> </a:t>
            </a:r>
            <a:r>
              <a:rPr lang="fa-IR" sz="3000" spc="-150" dirty="0">
                <a:latin typeface="Vazirmatn Light" pitchFamily="2" charset="-78"/>
                <a:cs typeface="Vazirmatn Light" pitchFamily="2" charset="-78"/>
              </a:rPr>
              <a:t>اگر تعداد عدد ها بیشتر از دو تا بود ، می توان عدد های مثبت را با هم و عدد های منفی را با هم جمع کرسپس حاصل نهایی را بدست آورد.</a:t>
            </a:r>
            <a:endParaRPr lang="en-US" sz="5000" spc="-150" dirty="0">
              <a:solidFill>
                <a:srgbClr val="FF3300"/>
              </a:solidFill>
              <a:latin typeface="Digi Aisa Bold" panose="02000806080000060004" pitchFamily="2" charset="-78"/>
              <a:cs typeface="Digi Aisa Bold" panose="02000806080000060004" pitchFamily="2" charset="-78"/>
            </a:endParaRPr>
          </a:p>
          <a:p>
            <a:pPr marL="0" indent="0" algn="r" rtl="1">
              <a:lnSpc>
                <a:spcPct val="100000"/>
              </a:lnSpc>
              <a:spcBef>
                <a:spcPts val="50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مثال :</a:t>
            </a:r>
          </a:p>
          <a:p>
            <a:pPr marL="0" indent="0" rtl="1">
              <a:lnSpc>
                <a:spcPct val="100000"/>
              </a:lnSpc>
              <a:spcBef>
                <a:spcPts val="1500"/>
              </a:spcBef>
              <a:buNone/>
            </a:pPr>
            <a:endParaRPr lang="en-US" spc="-150" dirty="0">
              <a:solidFill>
                <a:srgbClr val="063E2F"/>
              </a:solidFill>
              <a:latin typeface="Shabnam" panose="020B0603030804020204" pitchFamily="34" charset="-78"/>
              <a:cs typeface="Shabnam" panose="020B0603030804020204" pitchFamily="34" charset="-78"/>
            </a:endParaRPr>
          </a:p>
          <a:p>
            <a:pPr marL="0" indent="0" algn="r" rtl="1">
              <a:lnSpc>
                <a:spcPct val="100000"/>
              </a:lnSpc>
              <a:spcBef>
                <a:spcPts val="1500"/>
              </a:spcBef>
              <a:buNone/>
            </a:pPr>
            <a:endParaRPr lang="en-US" spc="-150" dirty="0">
              <a:latin typeface="Shabnam" panose="020B0603030804020204" pitchFamily="34" charset="-78"/>
              <a:cs typeface="Shabnam" panose="020B0603030804020204" pitchFamily="34" charset="-78"/>
            </a:endParaRPr>
          </a:p>
          <a:p>
            <a:pPr marL="0" indent="0" algn="r" rtl="1">
              <a:buNone/>
            </a:pPr>
            <a:endParaRPr lang="en-US" spc="-150" dirty="0">
              <a:solidFill>
                <a:schemeClr val="accent6">
                  <a:lumMod val="50000"/>
                </a:schemeClr>
              </a:solidFill>
              <a:latin typeface="Shabnam" panose="020B0603030804020204" pitchFamily="34" charset="-78"/>
              <a:cs typeface="Shabnam" panose="020B0603030804020204" pitchFamily="34" charset="-78"/>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6C13CD5-12A8-245C-4F1D-44834663DCCA}"/>
                  </a:ext>
                </a:extLst>
              </p:cNvPr>
              <p:cNvSpPr txBox="1"/>
              <p:nvPr/>
            </p:nvSpPr>
            <p:spPr>
              <a:xfrm>
                <a:off x="177384" y="4553794"/>
                <a:ext cx="8689298" cy="461665"/>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4</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6</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3</m:t>
                          </m:r>
                        </m:e>
                      </m:d>
                      <m:r>
                        <a:rPr lang="en-US" sz="2400" b="0" i="1" smtClean="0">
                          <a:latin typeface="Cambria Math" panose="02040503050406030204" pitchFamily="18" charset="0"/>
                        </a:rPr>
                        <m:t>+</m:t>
                      </m:r>
                      <m:r>
                        <a:rPr lang="en-US" sz="2400" b="0" i="1" smtClean="0">
                          <a:latin typeface="Cambria Math" panose="02040503050406030204" pitchFamily="18" charset="0"/>
                        </a:rPr>
                        <m:t>7</m:t>
                      </m:r>
                      <m:r>
                        <a:rPr lang="en-US" sz="2400" b="0" i="1" smtClean="0">
                          <a:latin typeface="Cambria Math" panose="02040503050406030204" pitchFamily="18" charset="0"/>
                        </a:rPr>
                        <m:t>=−</m:t>
                      </m:r>
                      <m:r>
                        <a:rPr lang="en-US" sz="2400" b="0" i="1" smtClean="0">
                          <a:latin typeface="Cambria Math" panose="02040503050406030204" pitchFamily="18" charset="0"/>
                        </a:rPr>
                        <m:t>4</m:t>
                      </m:r>
                      <m:r>
                        <a:rPr lang="en-US" sz="2400" b="0" i="1" smtClean="0">
                          <a:latin typeface="Cambria Math" panose="02040503050406030204" pitchFamily="18" charset="0"/>
                        </a:rPr>
                        <m:t>+</m:t>
                      </m:r>
                      <m:r>
                        <a:rPr lang="en-US" sz="2400" b="0" i="1" smtClean="0">
                          <a:latin typeface="Cambria Math" panose="02040503050406030204" pitchFamily="18" charset="0"/>
                        </a:rPr>
                        <m:t>6</m:t>
                      </m:r>
                      <m:r>
                        <a:rPr lang="en-US" sz="2400" b="0" i="1" smtClean="0">
                          <a:latin typeface="Cambria Math" panose="02040503050406030204" pitchFamily="18" charset="0"/>
                        </a:rPr>
                        <m:t>−</m:t>
                      </m:r>
                      <m:r>
                        <a:rPr lang="en-US" sz="2400" b="0" i="1" smtClean="0">
                          <a:latin typeface="Cambria Math" panose="02040503050406030204" pitchFamily="18" charset="0"/>
                        </a:rPr>
                        <m:t>3</m:t>
                      </m:r>
                      <m:r>
                        <a:rPr lang="en-US" sz="2400" b="0" i="1" smtClean="0">
                          <a:latin typeface="Cambria Math" panose="02040503050406030204" pitchFamily="18" charset="0"/>
                        </a:rPr>
                        <m:t>+</m:t>
                      </m:r>
                      <m:r>
                        <a:rPr lang="en-US" sz="2400" b="0" i="1" smtClean="0">
                          <a:latin typeface="Cambria Math" panose="02040503050406030204" pitchFamily="18" charset="0"/>
                        </a:rPr>
                        <m:t>7</m:t>
                      </m:r>
                      <m:r>
                        <a:rPr lang="en-US" sz="2400" b="0" i="1" smtClean="0">
                          <a:latin typeface="Cambria Math" panose="02040503050406030204" pitchFamily="18" charset="0"/>
                        </a:rPr>
                        <m:t>=−</m:t>
                      </m:r>
                      <m:r>
                        <a:rPr lang="en-US" sz="2400" b="0" i="1" smtClean="0">
                          <a:latin typeface="Cambria Math" panose="02040503050406030204" pitchFamily="18" charset="0"/>
                        </a:rPr>
                        <m:t>7</m:t>
                      </m:r>
                      <m:r>
                        <a:rPr lang="en-US" sz="2400" b="0" i="1" smtClean="0">
                          <a:latin typeface="Cambria Math" panose="02040503050406030204" pitchFamily="18" charset="0"/>
                        </a:rPr>
                        <m:t>+</m:t>
                      </m:r>
                      <m:r>
                        <a:rPr lang="en-US" sz="2400" b="0" i="1" smtClean="0">
                          <a:latin typeface="Cambria Math" panose="02040503050406030204" pitchFamily="18" charset="0"/>
                        </a:rPr>
                        <m:t>13</m:t>
                      </m:r>
                      <m:r>
                        <a:rPr lang="en-US" sz="2400" b="0" i="1" smtClean="0">
                          <a:latin typeface="Cambria Math" panose="02040503050406030204" pitchFamily="18" charset="0"/>
                        </a:rPr>
                        <m:t>=+</m:t>
                      </m:r>
                      <m:r>
                        <a:rPr lang="en-US" sz="2400" b="0" i="1" smtClean="0">
                          <a:latin typeface="Cambria Math" panose="02040503050406030204" pitchFamily="18" charset="0"/>
                        </a:rPr>
                        <m:t>6</m:t>
                      </m:r>
                    </m:oMath>
                  </m:oMathPara>
                </a14:m>
                <a:endParaRPr lang="en-US" sz="2400" dirty="0"/>
              </a:p>
            </p:txBody>
          </p:sp>
        </mc:Choice>
        <mc:Fallback>
          <p:sp>
            <p:nvSpPr>
              <p:cNvPr id="6" name="TextBox 5">
                <a:extLst>
                  <a:ext uri="{FF2B5EF4-FFF2-40B4-BE49-F238E27FC236}">
                    <a16:creationId xmlns:a16="http://schemas.microsoft.com/office/drawing/2014/main" id="{66C13CD5-12A8-245C-4F1D-44834663DCCA}"/>
                  </a:ext>
                </a:extLst>
              </p:cNvPr>
              <p:cNvSpPr txBox="1">
                <a:spLocks noRot="1" noChangeAspect="1" noMove="1" noResize="1" noEditPoints="1" noAdjustHandles="1" noChangeArrowheads="1" noChangeShapeType="1" noTextEdit="1"/>
              </p:cNvSpPr>
              <p:nvPr/>
            </p:nvSpPr>
            <p:spPr>
              <a:xfrm>
                <a:off x="177384" y="4553794"/>
                <a:ext cx="8689298"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C248B81-2B95-D19E-19B0-D0388BA07F78}"/>
                  </a:ext>
                </a:extLst>
              </p:cNvPr>
              <p:cNvSpPr txBox="1"/>
              <p:nvPr/>
            </p:nvSpPr>
            <p:spPr>
              <a:xfrm>
                <a:off x="307302" y="2007434"/>
                <a:ext cx="528403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r>
                            <a:rPr lang="fa-IR" sz="2400" b="0" i="1" smtClean="0">
                              <a:latin typeface="Cambria Math" panose="02040503050406030204" pitchFamily="18" charset="0"/>
                            </a:rPr>
                            <m:t>+</m:t>
                          </m:r>
                          <m:r>
                            <a:rPr lang="fa-IR" sz="2400" b="0" i="1" smtClean="0">
                              <a:latin typeface="Cambria Math" panose="02040503050406030204" pitchFamily="18" charset="0"/>
                            </a:rPr>
                            <m:t>25</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fa-IR" sz="2400" b="0" i="1" smtClean="0">
                              <a:latin typeface="Cambria Math" panose="02040503050406030204" pitchFamily="18" charset="0"/>
                            </a:rPr>
                            <m:t>+</m:t>
                          </m:r>
                          <m:r>
                            <a:rPr lang="fa-IR" sz="2400" b="0" i="1" smtClean="0">
                              <a:latin typeface="Cambria Math" panose="02040503050406030204" pitchFamily="18" charset="0"/>
                            </a:rPr>
                            <m:t>30</m:t>
                          </m:r>
                        </m:e>
                      </m:d>
                      <m:r>
                        <a:rPr lang="en-US" sz="2400" b="0" i="1" smtClean="0">
                          <a:latin typeface="Cambria Math" panose="02040503050406030204" pitchFamily="18" charset="0"/>
                        </a:rPr>
                        <m:t>= </m:t>
                      </m:r>
                      <m:r>
                        <a:rPr lang="fa-IR" sz="2400" b="0" i="1" smtClean="0">
                          <a:latin typeface="Cambria Math" panose="02040503050406030204" pitchFamily="18" charset="0"/>
                        </a:rPr>
                        <m:t>+</m:t>
                      </m:r>
                      <m:r>
                        <a:rPr lang="fa-IR" sz="2400" b="0" i="1" smtClean="0">
                          <a:latin typeface="Cambria Math" panose="02040503050406030204" pitchFamily="18" charset="0"/>
                        </a:rPr>
                        <m:t>25</m:t>
                      </m:r>
                      <m:r>
                        <a:rPr lang="fa-IR" sz="2400" b="0" i="1" smtClean="0">
                          <a:latin typeface="Cambria Math" panose="02040503050406030204" pitchFamily="18" charset="0"/>
                        </a:rPr>
                        <m:t> −</m:t>
                      </m:r>
                      <m:r>
                        <a:rPr lang="fa-IR" sz="2400" b="0" i="1" smtClean="0">
                          <a:latin typeface="Cambria Math" panose="02040503050406030204" pitchFamily="18" charset="0"/>
                        </a:rPr>
                        <m:t>30</m:t>
                      </m:r>
                      <m:r>
                        <a:rPr lang="en-US" sz="2400" b="0" i="1" smtClean="0">
                          <a:latin typeface="Cambria Math" panose="02040503050406030204" pitchFamily="18" charset="0"/>
                        </a:rPr>
                        <m:t>=</m:t>
                      </m:r>
                      <m:r>
                        <a:rPr lang="fa-IR" sz="2400" b="0" i="1" smtClean="0">
                          <a:latin typeface="Cambria Math" panose="02040503050406030204" pitchFamily="18" charset="0"/>
                        </a:rPr>
                        <m:t>−</m:t>
                      </m:r>
                      <m:r>
                        <a:rPr lang="fa-IR" sz="2400" b="0" i="1" smtClean="0">
                          <a:latin typeface="Cambria Math" panose="02040503050406030204" pitchFamily="18" charset="0"/>
                        </a:rPr>
                        <m:t>5</m:t>
                      </m:r>
                    </m:oMath>
                  </m:oMathPara>
                </a14:m>
                <a:endParaRPr lang="en-US" sz="2400" dirty="0"/>
              </a:p>
            </p:txBody>
          </p:sp>
        </mc:Choice>
        <mc:Fallback>
          <p:sp>
            <p:nvSpPr>
              <p:cNvPr id="2" name="TextBox 1">
                <a:extLst>
                  <a:ext uri="{FF2B5EF4-FFF2-40B4-BE49-F238E27FC236}">
                    <a16:creationId xmlns:a16="http://schemas.microsoft.com/office/drawing/2014/main" id="{CC248B81-2B95-D19E-19B0-D0388BA07F78}"/>
                  </a:ext>
                </a:extLst>
              </p:cNvPr>
              <p:cNvSpPr txBox="1">
                <a:spLocks noRot="1" noChangeAspect="1" noMove="1" noResize="1" noEditPoints="1" noAdjustHandles="1" noChangeArrowheads="1" noChangeShapeType="1" noTextEdit="1"/>
              </p:cNvSpPr>
              <p:nvPr/>
            </p:nvSpPr>
            <p:spPr>
              <a:xfrm>
                <a:off x="307302" y="2007434"/>
                <a:ext cx="5284033" cy="461665"/>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8575736"/>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6"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7" dur="1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7"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1000"/>
                                        <p:tgtEl>
                                          <p:spTgt spid="2"/>
                                        </p:tgtEl>
                                      </p:cBhvr>
                                    </p:animEffect>
                                    <p:anim calcmode="lin" valueType="num">
                                      <p:cBhvr>
                                        <p:cTn id="23" dur="1000" fill="hold"/>
                                        <p:tgtEl>
                                          <p:spTgt spid="2"/>
                                        </p:tgtEl>
                                        <p:attrNameLst>
                                          <p:attrName>ppt_x</p:attrName>
                                        </p:attrNameLst>
                                      </p:cBhvr>
                                      <p:tavLst>
                                        <p:tav tm="0">
                                          <p:val>
                                            <p:strVal val="#ppt_x"/>
                                          </p:val>
                                        </p:tav>
                                        <p:tav tm="100000">
                                          <p:val>
                                            <p:strVal val="#ppt_x"/>
                                          </p:val>
                                        </p:tav>
                                      </p:tavLst>
                                    </p:anim>
                                    <p:anim calcmode="lin" valueType="num">
                                      <p:cBhvr>
                                        <p:cTn id="24" dur="900" decel="100000" fill="hold"/>
                                        <p:tgtEl>
                                          <p:spTgt spid="2"/>
                                        </p:tgtEl>
                                        <p:attrNameLst>
                                          <p:attrName>ppt_y</p:attrName>
                                        </p:attrNameLst>
                                      </p:cBhvr>
                                      <p:tavLst>
                                        <p:tav tm="0">
                                          <p:val>
                                            <p:strVal val="#ppt_y+1"/>
                                          </p:val>
                                        </p:tav>
                                        <p:tav tm="100000">
                                          <p:val>
                                            <p:strVal val="#ppt_y-.03"/>
                                          </p:val>
                                        </p:tav>
                                      </p:tavLst>
                                    </p:anim>
                                    <p:anim calcmode="lin" valueType="num">
                                      <p:cBhvr>
                                        <p:cTn id="25"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500"/>
                                        <p:tgtEl>
                                          <p:spTgt spid="3">
                                            <p:txEl>
                                              <p:pRg st="3" end="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ox(out)">
                                      <p:cBhvr>
                                        <p:cTn id="4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ضرب و تقسیم اعداد صحیح</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r>
              <a:rPr lang="fa-IR" spc="-150" dirty="0">
                <a:latin typeface="Vazirmatn Light" pitchFamily="2" charset="-78"/>
                <a:cs typeface="Vazirmatn Light" pitchFamily="2" charset="-78"/>
              </a:rPr>
              <a:t>ابتدا علامت ها را در هم ضرب کرده سپس اعداد را با توجه به علامت بین آن ها ضرب یا تقسیم می کنیم.</a:t>
            </a:r>
          </a:p>
          <a:p>
            <a:pPr marL="0" lvl="0" indent="0" algn="r" rtl="1">
              <a:lnSpc>
                <a:spcPct val="100000"/>
              </a:lnSpc>
              <a:spcBef>
                <a:spcPts val="0"/>
              </a:spcBef>
              <a:buNone/>
            </a:pPr>
            <a:r>
              <a:rPr lang="fa-IR" sz="5400" spc="-150" dirty="0">
                <a:solidFill>
                  <a:srgbClr val="F19D19">
                    <a:lumMod val="50000"/>
                  </a:srgbClr>
                </a:solidFill>
                <a:latin typeface="Shabnam" panose="020B0603030804020204" pitchFamily="34" charset="-78"/>
                <a:cs typeface="A Shekari" panose="00000400000000000000" pitchFamily="2" charset="-78"/>
              </a:rPr>
              <a:t>مثال :</a:t>
            </a:r>
            <a:endParaRPr lang="en-US" sz="5400" spc="-150" dirty="0">
              <a:solidFill>
                <a:srgbClr val="F19D19">
                  <a:lumMod val="50000"/>
                </a:srgb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endParaRPr lang="en-US" spc="-150" dirty="0">
              <a:latin typeface="Shabnam" panose="020B0603030804020204" pitchFamily="34" charset="-78"/>
              <a:cs typeface="Shabnam" panose="020B0603030804020204" pitchFamily="34" charset="-78"/>
            </a:endParaRPr>
          </a:p>
          <a:p>
            <a:pPr marL="0" indent="0" algn="r" rtl="1">
              <a:buNone/>
            </a:pPr>
            <a:endParaRPr lang="en-US" spc="-150" dirty="0">
              <a:solidFill>
                <a:schemeClr val="accent6">
                  <a:lumMod val="50000"/>
                </a:schemeClr>
              </a:solidFill>
              <a:latin typeface="Shabnam" panose="020B0603030804020204" pitchFamily="34" charset="-78"/>
              <a:cs typeface="Shabnam" panose="020B0603030804020204" pitchFamily="34" charset="-78"/>
            </a:endParaRPr>
          </a:p>
        </p:txBody>
      </p:sp>
      <p:graphicFrame>
        <p:nvGraphicFramePr>
          <p:cNvPr id="9" name="Table 8">
            <a:extLst>
              <a:ext uri="{FF2B5EF4-FFF2-40B4-BE49-F238E27FC236}">
                <a16:creationId xmlns:a16="http://schemas.microsoft.com/office/drawing/2014/main" id="{DE85D3E8-CBAF-358C-C1BB-9E509BD7A6B1}"/>
              </a:ext>
            </a:extLst>
          </p:cNvPr>
          <p:cNvGraphicFramePr>
            <a:graphicFrameLocks noGrp="1"/>
          </p:cNvGraphicFramePr>
          <p:nvPr>
            <p:extLst>
              <p:ext uri="{D42A27DB-BD31-4B8C-83A1-F6EECF244321}">
                <p14:modId xmlns:p14="http://schemas.microsoft.com/office/powerpoint/2010/main" val="516399885"/>
              </p:ext>
            </p:extLst>
          </p:nvPr>
        </p:nvGraphicFramePr>
        <p:xfrm>
          <a:off x="517993" y="2499609"/>
          <a:ext cx="3566160" cy="3566160"/>
        </p:xfrm>
        <a:graphic>
          <a:graphicData uri="http://schemas.openxmlformats.org/drawingml/2006/table">
            <a:tbl>
              <a:tblPr firstRow="1" bandRow="1">
                <a:tableStyleId>{2D5ABB26-0587-4C30-8999-92F81FD0307C}</a:tableStyleId>
              </a:tblPr>
              <a:tblGrid>
                <a:gridCol w="1188720">
                  <a:extLst>
                    <a:ext uri="{9D8B030D-6E8A-4147-A177-3AD203B41FA5}">
                      <a16:colId xmlns:a16="http://schemas.microsoft.com/office/drawing/2014/main" val="3964258950"/>
                    </a:ext>
                  </a:extLst>
                </a:gridCol>
                <a:gridCol w="1188720">
                  <a:extLst>
                    <a:ext uri="{9D8B030D-6E8A-4147-A177-3AD203B41FA5}">
                      <a16:colId xmlns:a16="http://schemas.microsoft.com/office/drawing/2014/main" val="4024786257"/>
                    </a:ext>
                  </a:extLst>
                </a:gridCol>
                <a:gridCol w="1188720">
                  <a:extLst>
                    <a:ext uri="{9D8B030D-6E8A-4147-A177-3AD203B41FA5}">
                      <a16:colId xmlns:a16="http://schemas.microsoft.com/office/drawing/2014/main" val="2573480301"/>
                    </a:ext>
                  </a:extLst>
                </a:gridCol>
              </a:tblGrid>
              <a:tr h="1188720">
                <a:tc>
                  <a:txBody>
                    <a:bodyPr/>
                    <a:lstStyle/>
                    <a:p>
                      <a:pPr algn="ctr"/>
                      <a:r>
                        <a:rPr lang="fa-IR" sz="4400" dirty="0">
                          <a:cs typeface="A Shekari" panose="00000400000000000000" pitchFamily="2" charset="-78"/>
                        </a:rPr>
                        <a:t>× یا ÷</a:t>
                      </a:r>
                      <a:endParaRPr lang="en-US" sz="4400" dirty="0">
                        <a:cs typeface="A Shekari" panose="00000400000000000000" pitchFamily="2" charset="-78"/>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1246816"/>
                  </a:ext>
                </a:extLst>
              </a:tr>
              <a:tr h="1188720">
                <a:tc>
                  <a:txBody>
                    <a:bodyPr/>
                    <a:lstStyle/>
                    <a:p>
                      <a:pPr algn="ctr"/>
                      <a:r>
                        <a:rPr lang="en-US" sz="4400" dirty="0">
                          <a:cs typeface="A Shekari" panose="00000400000000000000" pitchFamily="2" charset="-78"/>
                        </a:rPr>
                        <a:t>+</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0515861"/>
                  </a:ext>
                </a:extLst>
              </a:tr>
              <a:tr h="1188720">
                <a:tc>
                  <a:txBody>
                    <a:bodyPr/>
                    <a:lstStyle/>
                    <a:p>
                      <a:pPr algn="ctr"/>
                      <a:r>
                        <a:rPr lang="en-US" sz="4400" dirty="0">
                          <a:cs typeface="A Shekari" panose="00000400000000000000" pitchFamily="2" charset="-78"/>
                        </a:rPr>
                        <a:t>-</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sz="4400" dirty="0">
                          <a:cs typeface="A Shekari" panose="00000400000000000000" pitchFamily="2" charset="-78"/>
                        </a:rPr>
                        <a:t>+</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40053915"/>
                  </a:ext>
                </a:extLst>
              </a:tr>
            </a:tbl>
          </a:graphicData>
        </a:graphic>
      </p:graphicFrame>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3FE0832-FF23-A4E0-E10D-00A3070964CB}"/>
                  </a:ext>
                </a:extLst>
              </p:cNvPr>
              <p:cNvSpPr txBox="1"/>
              <p:nvPr/>
            </p:nvSpPr>
            <p:spPr>
              <a:xfrm>
                <a:off x="5741232" y="3429000"/>
                <a:ext cx="6273384" cy="46166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6</m:t>
                              </m:r>
                            </m:e>
                          </m:d>
                          <m:r>
                            <a:rPr lang="fa-IR"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4</m:t>
                              </m:r>
                            </m:e>
                          </m:d>
                        </m:e>
                      </m:d>
                      <m:r>
                        <a:rPr lang="fa-IR"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3</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24</m:t>
                          </m:r>
                        </m:e>
                      </m:d>
                      <m:r>
                        <a:rPr lang="fa-IR"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r>
                            <a:rPr lang="en-US" sz="2400" b="0" i="1" smtClean="0">
                              <a:latin typeface="Cambria Math" panose="02040503050406030204" pitchFamily="18" charset="0"/>
                            </a:rPr>
                            <m:t>3</m:t>
                          </m:r>
                        </m:e>
                      </m:d>
                      <m:r>
                        <a:rPr lang="en-US" sz="2400" b="0" i="1" smtClean="0">
                          <a:latin typeface="Cambria Math" panose="02040503050406030204" pitchFamily="18" charset="0"/>
                        </a:rPr>
                        <m:t>= +</m:t>
                      </m:r>
                      <m:r>
                        <a:rPr lang="en-US" sz="2400" b="0" i="1" smtClean="0">
                          <a:latin typeface="Cambria Math" panose="02040503050406030204" pitchFamily="18" charset="0"/>
                        </a:rPr>
                        <m:t>8</m:t>
                      </m:r>
                    </m:oMath>
                  </m:oMathPara>
                </a14:m>
                <a:endParaRPr lang="en-US" sz="2400" dirty="0"/>
              </a:p>
            </p:txBody>
          </p:sp>
        </mc:Choice>
        <mc:Fallback>
          <p:sp>
            <p:nvSpPr>
              <p:cNvPr id="10" name="TextBox 9">
                <a:extLst>
                  <a:ext uri="{FF2B5EF4-FFF2-40B4-BE49-F238E27FC236}">
                    <a16:creationId xmlns:a16="http://schemas.microsoft.com/office/drawing/2014/main" id="{C3FE0832-FF23-A4E0-E10D-00A3070964CB}"/>
                  </a:ext>
                </a:extLst>
              </p:cNvPr>
              <p:cNvSpPr txBox="1">
                <a:spLocks noRot="1" noChangeAspect="1" noMove="1" noResize="1" noEditPoints="1" noAdjustHandles="1" noChangeArrowheads="1" noChangeShapeType="1" noTextEdit="1"/>
              </p:cNvSpPr>
              <p:nvPr/>
            </p:nvSpPr>
            <p:spPr>
              <a:xfrm>
                <a:off x="5741232" y="3429000"/>
                <a:ext cx="6273384" cy="461665"/>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62349118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3" presetClass="entr" presetSubtype="32"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plus(out)">
                                      <p:cBhvr>
                                        <p:cTn id="25" dur="2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25"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decel="50000" fill="hold">
                                          <p:stCondLst>
                                            <p:cond delay="0"/>
                                          </p:stCondLst>
                                        </p:cTn>
                                        <p:tgtEl>
                                          <p:spTgt spid="10"/>
                                        </p:tgtEl>
                                        <p:attrNameLst>
                                          <p:attrName>style.rotation</p:attrName>
                                        </p:attrNameLst>
                                      </p:cBhvr>
                                      <p:tavLst>
                                        <p:tav tm="0">
                                          <p:val>
                                            <p:fltVal val="-90"/>
                                          </p:val>
                                        </p:tav>
                                        <p:tav tm="100000">
                                          <p:val>
                                            <p:fltVal val="0"/>
                                          </p:val>
                                        </p:tav>
                                      </p:tavLst>
                                    </p:anim>
                                    <p:anim calcmode="lin" valueType="num">
                                      <p:cBhvr>
                                        <p:cTn id="31" dur="500" decel="50000" fill="hold">
                                          <p:stCondLst>
                                            <p:cond delay="0"/>
                                          </p:stCondLst>
                                        </p:cTn>
                                        <p:tgtEl>
                                          <p:spTgt spid="10"/>
                                        </p:tgtEl>
                                        <p:attrNameLst>
                                          <p:attrName>ppt_w</p:attrName>
                                        </p:attrNameLst>
                                      </p:cBhvr>
                                      <p:tavLst>
                                        <p:tav tm="0">
                                          <p:val>
                                            <p:strVal val="#ppt_w"/>
                                          </p:val>
                                        </p:tav>
                                        <p:tav tm="100000">
                                          <p:val>
                                            <p:strVal val="#ppt_w*.05"/>
                                          </p:val>
                                        </p:tav>
                                      </p:tavLst>
                                    </p:anim>
                                    <p:anim calcmode="lin" valueType="num">
                                      <p:cBhvr>
                                        <p:cTn id="32" dur="500" accel="50000" fill="hold">
                                          <p:stCondLst>
                                            <p:cond delay="500"/>
                                          </p:stCondLst>
                                        </p:cTn>
                                        <p:tgtEl>
                                          <p:spTgt spid="10"/>
                                        </p:tgtEl>
                                        <p:attrNameLst>
                                          <p:attrName>ppt_w</p:attrName>
                                        </p:attrNameLst>
                                      </p:cBhvr>
                                      <p:tavLst>
                                        <p:tav tm="0">
                                          <p:val>
                                            <p:strVal val="#ppt_w*.05"/>
                                          </p:val>
                                        </p:tav>
                                        <p:tav tm="100000">
                                          <p:val>
                                            <p:strVal val="#ppt_w"/>
                                          </p:val>
                                        </p:tav>
                                      </p:tavLst>
                                    </p:anim>
                                    <p:anim calcmode="lin" valueType="num">
                                      <p:cBhvr>
                                        <p:cTn id="33" dur="1000" fill="hold"/>
                                        <p:tgtEl>
                                          <p:spTgt spid="10"/>
                                        </p:tgtEl>
                                        <p:attrNameLst>
                                          <p:attrName>ppt_h</p:attrName>
                                        </p:attrNameLst>
                                      </p:cBhvr>
                                      <p:tavLst>
                                        <p:tav tm="0">
                                          <p:val>
                                            <p:strVal val="#ppt_h"/>
                                          </p:val>
                                        </p:tav>
                                        <p:tav tm="100000">
                                          <p:val>
                                            <p:strVal val="#ppt_h"/>
                                          </p:val>
                                        </p:tav>
                                      </p:tavLst>
                                    </p:anim>
                                    <p:anim calcmode="lin" valueType="num">
                                      <p:cBhvr>
                                        <p:cTn id="34" dur="500" decel="50000" fill="hold">
                                          <p:stCondLst>
                                            <p:cond delay="0"/>
                                          </p:stCondLst>
                                        </p:cTn>
                                        <p:tgtEl>
                                          <p:spTgt spid="10"/>
                                        </p:tgtEl>
                                        <p:attrNameLst>
                                          <p:attrName>ppt_x</p:attrName>
                                        </p:attrNameLst>
                                      </p:cBhvr>
                                      <p:tavLst>
                                        <p:tav tm="0">
                                          <p:val>
                                            <p:strVal val="#ppt_x+.4"/>
                                          </p:val>
                                        </p:tav>
                                        <p:tav tm="100000">
                                          <p:val>
                                            <p:strVal val="#ppt_x"/>
                                          </p:val>
                                        </p:tav>
                                      </p:tavLst>
                                    </p:anim>
                                    <p:anim calcmode="lin" valueType="num">
                                      <p:cBhvr>
                                        <p:cTn id="35" dur="500" decel="50000" fill="hold">
                                          <p:stCondLst>
                                            <p:cond delay="0"/>
                                          </p:stCondLst>
                                        </p:cTn>
                                        <p:tgtEl>
                                          <p:spTgt spid="10"/>
                                        </p:tgtEl>
                                        <p:attrNameLst>
                                          <p:attrName>ppt_y</p:attrName>
                                        </p:attrNameLst>
                                      </p:cBhvr>
                                      <p:tavLst>
                                        <p:tav tm="0">
                                          <p:val>
                                            <p:strVal val="#ppt_y-.2"/>
                                          </p:val>
                                        </p:tav>
                                        <p:tav tm="100000">
                                          <p:val>
                                            <p:strVal val="#ppt_y+.1"/>
                                          </p:val>
                                        </p:tav>
                                      </p:tavLst>
                                    </p:anim>
                                    <p:anim calcmode="lin" valueType="num">
                                      <p:cBhvr>
                                        <p:cTn id="36" dur="500" accel="50000" fill="hold">
                                          <p:stCondLst>
                                            <p:cond delay="500"/>
                                          </p:stCondLst>
                                        </p:cTn>
                                        <p:tgtEl>
                                          <p:spTgt spid="10"/>
                                        </p:tgtEl>
                                        <p:attrNameLst>
                                          <p:attrName>ppt_y</p:attrName>
                                        </p:attrNameLst>
                                      </p:cBhvr>
                                      <p:tavLst>
                                        <p:tav tm="0">
                                          <p:val>
                                            <p:strVal val="#ppt_y+.1"/>
                                          </p:val>
                                        </p:tav>
                                        <p:tav tm="100000">
                                          <p:val>
                                            <p:strVal val="#ppt_y"/>
                                          </p:val>
                                        </p:tav>
                                      </p:tavLst>
                                    </p:anim>
                                    <p:animEffect transition="in" filter="fade">
                                      <p:cBhvr>
                                        <p:cTn id="37" dur="1000" decel="50000">
                                          <p:stCondLst>
                                            <p:cond delay="0"/>
                                          </p:stCondLst>
                                        </p:cTn>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اولویت های انجام عملیات در ریاضی :</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r>
              <a:rPr lang="fa-IR" spc="-150" dirty="0">
                <a:latin typeface="Vazirmatn Light" pitchFamily="2" charset="-78"/>
                <a:cs typeface="Vazirmatn Light" pitchFamily="2" charset="-78"/>
              </a:rPr>
              <a:t>1- مجموعه یا کروشه یا پرانتز</a:t>
            </a:r>
            <a:r>
              <a:rPr lang="en-US" spc="-150" dirty="0">
                <a:latin typeface="Vazirmatn Light" pitchFamily="2" charset="-78"/>
                <a:cs typeface="Vazirmatn Light" pitchFamily="2" charset="-78"/>
              </a:rPr>
              <a:t>2        </a:t>
            </a:r>
            <a:r>
              <a:rPr lang="fa-IR" spc="-150" dirty="0">
                <a:latin typeface="Vazirmatn Light" pitchFamily="2" charset="-78"/>
                <a:cs typeface="Vazirmatn Light" pitchFamily="2" charset="-78"/>
              </a:rPr>
              <a:t>- توان و جذر          3- ضرب و تقسیم           4- جمع و تفریق</a:t>
            </a:r>
          </a:p>
          <a:p>
            <a:pPr marL="0" lvl="0" indent="0" algn="r" rtl="1">
              <a:lnSpc>
                <a:spcPct val="100000"/>
              </a:lnSpc>
              <a:spcBef>
                <a:spcPts val="0"/>
              </a:spcBef>
              <a:buNone/>
            </a:pPr>
            <a:r>
              <a:rPr lang="fa-IR" sz="5400" spc="-150" dirty="0">
                <a:solidFill>
                  <a:srgbClr val="F19D19">
                    <a:lumMod val="50000"/>
                  </a:srgbClr>
                </a:solidFill>
                <a:latin typeface="Shabnam" panose="020B0603030804020204" pitchFamily="34" charset="-78"/>
                <a:cs typeface="A Shekari" panose="00000400000000000000" pitchFamily="2" charset="-78"/>
              </a:rPr>
              <a:t>مثال :</a:t>
            </a:r>
            <a:endParaRPr lang="en-US" spc="-150" dirty="0">
              <a:latin typeface="Shabnam" panose="020B0603030804020204" pitchFamily="34" charset="-78"/>
              <a:cs typeface="Shabnam" panose="020B0603030804020204" pitchFamily="34" charset="-78"/>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AA3D145-7C5B-E1DE-E7D9-2AF6BC4E6DBE}"/>
                  </a:ext>
                </a:extLst>
              </p:cNvPr>
              <p:cNvSpPr txBox="1"/>
              <p:nvPr/>
            </p:nvSpPr>
            <p:spPr>
              <a:xfrm>
                <a:off x="89941" y="2136930"/>
                <a:ext cx="4020951" cy="509178"/>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en-US" sz="2400" b="0" i="1" smtClean="0">
                          <a:latin typeface="Cambria Math" panose="02040503050406030204" pitchFamily="18" charset="0"/>
                        </a:rPr>
                        <m:t>4</m:t>
                      </m:r>
                      <m:r>
                        <a:rPr lang="en-US" sz="2400" b="0" i="1" smtClean="0">
                          <a:latin typeface="Cambria Math" panose="02040503050406030204" pitchFamily="18" charset="0"/>
                        </a:rPr>
                        <m:t>−</m:t>
                      </m:r>
                      <m:r>
                        <a:rPr lang="en-US" sz="2400" b="0" i="1" smtClean="0">
                          <a:latin typeface="Cambria Math" panose="02040503050406030204" pitchFamily="18" charset="0"/>
                        </a:rPr>
                        <m:t>4</m:t>
                      </m:r>
                      <m:r>
                        <a:rPr lang="fa-IR" sz="2400" b="0" i="1" smtClean="0">
                          <a:latin typeface="Cambria Math" panose="02040503050406030204" pitchFamily="18" charset="0"/>
                        </a:rPr>
                        <m:t>×</m:t>
                      </m:r>
                      <m:sSup>
                        <m:sSupPr>
                          <m:ctrlPr>
                            <a:rPr lang="fa-IR" sz="2400" b="0" i="1" smtClean="0">
                              <a:latin typeface="Cambria Math" panose="02040503050406030204" pitchFamily="18" charset="0"/>
                            </a:rPr>
                          </m:ctrlPr>
                        </m:sSupPr>
                        <m:e>
                          <m:r>
                            <a:rPr lang="en-US" sz="2400" b="0" i="1" smtClean="0">
                              <a:latin typeface="Cambria Math" panose="02040503050406030204" pitchFamily="18" charset="0"/>
                            </a:rPr>
                            <m:t>3</m:t>
                          </m:r>
                        </m:e>
                        <m:sup>
                          <m:r>
                            <a:rPr lang="en-US" sz="2400" b="0" i="1" smtClean="0">
                              <a:latin typeface="Cambria Math" panose="02040503050406030204" pitchFamily="18" charset="0"/>
                            </a:rPr>
                            <m:t>2</m:t>
                          </m:r>
                        </m:sup>
                      </m:sSup>
                      <m:r>
                        <a:rPr lang="fa-IR" sz="2400" b="0" i="1" smtClean="0">
                          <a:latin typeface="Cambria Math" panose="02040503050406030204" pitchFamily="18" charset="0"/>
                        </a:rPr>
                        <m:t>÷</m:t>
                      </m:r>
                      <m:r>
                        <a:rPr lang="en-US" sz="2400" b="0" i="1" smtClean="0">
                          <a:latin typeface="Cambria Math" panose="02040503050406030204" pitchFamily="18" charset="0"/>
                        </a:rPr>
                        <m:t>6</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9</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3</m:t>
                              </m:r>
                            </m:sup>
                          </m:sSup>
                        </m:e>
                      </m:d>
                      <m:r>
                        <a:rPr lang="en-US" sz="2400" b="0" i="1" smtClean="0">
                          <a:latin typeface="Cambria Math" panose="02040503050406030204" pitchFamily="18" charset="0"/>
                        </a:rPr>
                        <m:t>=</m:t>
                      </m:r>
                    </m:oMath>
                  </m:oMathPara>
                </a14:m>
                <a:endParaRPr lang="en-US" dirty="0"/>
              </a:p>
            </p:txBody>
          </p:sp>
        </mc:Choice>
        <mc:Fallback>
          <p:sp>
            <p:nvSpPr>
              <p:cNvPr id="2" name="TextBox 1">
                <a:extLst>
                  <a:ext uri="{FF2B5EF4-FFF2-40B4-BE49-F238E27FC236}">
                    <a16:creationId xmlns:a16="http://schemas.microsoft.com/office/drawing/2014/main" id="{6AA3D145-7C5B-E1DE-E7D9-2AF6BC4E6DBE}"/>
                  </a:ext>
                </a:extLst>
              </p:cNvPr>
              <p:cNvSpPr txBox="1">
                <a:spLocks noRot="1" noChangeAspect="1" noMove="1" noResize="1" noEditPoints="1" noAdjustHandles="1" noChangeArrowheads="1" noChangeShapeType="1" noTextEdit="1"/>
              </p:cNvSpPr>
              <p:nvPr/>
            </p:nvSpPr>
            <p:spPr>
              <a:xfrm>
                <a:off x="89941" y="2136930"/>
                <a:ext cx="4020951" cy="509178"/>
              </a:xfrm>
              <a:prstGeom prst="rect">
                <a:avLst/>
              </a:prstGeom>
              <a:blipFill>
                <a:blip r:embed="rId2"/>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B39FCA9-CB73-CB1D-B889-2AD92FD7C087}"/>
              </a:ext>
            </a:extLst>
          </p:cNvPr>
          <p:cNvSpPr txBox="1"/>
          <p:nvPr/>
        </p:nvSpPr>
        <p:spPr>
          <a:xfrm>
            <a:off x="7155757" y="3503949"/>
            <a:ext cx="4858859" cy="461665"/>
          </a:xfrm>
          <a:prstGeom prst="rect">
            <a:avLst/>
          </a:prstGeom>
          <a:noFill/>
        </p:spPr>
        <p:txBody>
          <a:bodyPr wrap="square" rtlCol="0">
            <a:spAutoFit/>
          </a:bodyPr>
          <a:lstStyle/>
          <a:p>
            <a:pPr algn="r" rtl="1"/>
            <a:r>
              <a:rPr lang="fa-IR" sz="2400" dirty="0">
                <a:latin typeface="Vazirmatn Light" pitchFamily="2" charset="-78"/>
                <a:cs typeface="Vazirmatn Light" pitchFamily="2" charset="-78"/>
              </a:rPr>
              <a:t>ابتدا حاصل پرانتز را به دست می آوریم</a:t>
            </a:r>
            <a:endParaRPr lang="en-US" sz="2400" dirty="0">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1E5B675E-F042-CD14-4550-B6E09A8507C6}"/>
                  </a:ext>
                </a:extLst>
              </p:cNvPr>
              <p:cNvSpPr txBox="1"/>
              <p:nvPr/>
            </p:nvSpPr>
            <p:spPr>
              <a:xfrm>
                <a:off x="89941" y="2823752"/>
                <a:ext cx="4020951" cy="461665"/>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en-US" sz="2400" b="0" i="1" smtClean="0">
                          <a:solidFill>
                            <a:schemeClr val="accent6">
                              <a:lumMod val="50000"/>
                            </a:schemeClr>
                          </a:solidFill>
                          <a:latin typeface="Cambria Math" panose="02040503050406030204" pitchFamily="18" charset="0"/>
                        </a:rPr>
                        <m:t>9</m:t>
                      </m:r>
                      <m:r>
                        <a:rPr lang="en-US" sz="2400" b="0" i="1" smtClean="0">
                          <a:solidFill>
                            <a:schemeClr val="accent6">
                              <a:lumMod val="50000"/>
                            </a:schemeClr>
                          </a:solidFill>
                          <a:latin typeface="Cambria Math" panose="02040503050406030204" pitchFamily="18" charset="0"/>
                        </a:rPr>
                        <m:t>−</m:t>
                      </m:r>
                      <m:sSup>
                        <m:sSupPr>
                          <m:ctrlPr>
                            <a:rPr lang="en-US" sz="2400" b="0" i="1" smtClean="0">
                              <a:solidFill>
                                <a:schemeClr val="accent6">
                                  <a:lumMod val="50000"/>
                                </a:schemeClr>
                              </a:solidFill>
                              <a:latin typeface="Cambria Math" panose="02040503050406030204" pitchFamily="18" charset="0"/>
                            </a:rPr>
                          </m:ctrlPr>
                        </m:sSupPr>
                        <m:e>
                          <m:r>
                            <a:rPr lang="en-US" sz="2400" b="0" i="1" smtClean="0">
                              <a:solidFill>
                                <a:schemeClr val="accent6">
                                  <a:lumMod val="50000"/>
                                </a:schemeClr>
                              </a:solidFill>
                              <a:latin typeface="Cambria Math" panose="02040503050406030204" pitchFamily="18" charset="0"/>
                            </a:rPr>
                            <m:t>2</m:t>
                          </m:r>
                        </m:e>
                        <m:sup>
                          <m:r>
                            <a:rPr lang="en-US" sz="2400" b="0" i="1" smtClean="0">
                              <a:solidFill>
                                <a:schemeClr val="accent6">
                                  <a:lumMod val="50000"/>
                                </a:schemeClr>
                              </a:solidFill>
                              <a:latin typeface="Cambria Math" panose="02040503050406030204" pitchFamily="18" charset="0"/>
                            </a:rPr>
                            <m:t>3</m:t>
                          </m:r>
                        </m:sup>
                      </m:sSup>
                      <m:r>
                        <a:rPr lang="en-US" sz="2400" b="0" i="1" smtClean="0">
                          <a:solidFill>
                            <a:schemeClr val="accent6">
                              <a:lumMod val="50000"/>
                            </a:schemeClr>
                          </a:solidFill>
                          <a:latin typeface="Cambria Math" panose="02040503050406030204" pitchFamily="18" charset="0"/>
                        </a:rPr>
                        <m:t>=</m:t>
                      </m:r>
                      <m:r>
                        <a:rPr lang="en-US" sz="2400" b="0" i="1" smtClean="0">
                          <a:solidFill>
                            <a:schemeClr val="accent6">
                              <a:lumMod val="50000"/>
                            </a:schemeClr>
                          </a:solidFill>
                          <a:latin typeface="Cambria Math" panose="02040503050406030204" pitchFamily="18" charset="0"/>
                        </a:rPr>
                        <m:t>9</m:t>
                      </m:r>
                      <m:r>
                        <a:rPr lang="en-US" sz="2400" b="0" i="1" smtClean="0">
                          <a:solidFill>
                            <a:schemeClr val="accent6">
                              <a:lumMod val="50000"/>
                            </a:schemeClr>
                          </a:solidFill>
                          <a:latin typeface="Cambria Math" panose="02040503050406030204" pitchFamily="18" charset="0"/>
                        </a:rPr>
                        <m:t>−</m:t>
                      </m:r>
                      <m:r>
                        <a:rPr lang="en-US" sz="2400" b="0" i="1" smtClean="0">
                          <a:solidFill>
                            <a:schemeClr val="accent6">
                              <a:lumMod val="50000"/>
                            </a:schemeClr>
                          </a:solidFill>
                          <a:latin typeface="Cambria Math" panose="02040503050406030204" pitchFamily="18" charset="0"/>
                        </a:rPr>
                        <m:t>8</m:t>
                      </m:r>
                      <m:r>
                        <a:rPr lang="en-US" sz="2400" b="0" i="1" smtClean="0">
                          <a:solidFill>
                            <a:schemeClr val="accent6">
                              <a:lumMod val="50000"/>
                            </a:schemeClr>
                          </a:solidFill>
                          <a:latin typeface="Cambria Math" panose="02040503050406030204" pitchFamily="18" charset="0"/>
                        </a:rPr>
                        <m:t>=</m:t>
                      </m:r>
                      <m:r>
                        <a:rPr lang="en-US" sz="2400" b="0" i="1" smtClean="0">
                          <a:solidFill>
                            <a:schemeClr val="accent6">
                              <a:lumMod val="50000"/>
                            </a:schemeClr>
                          </a:solidFill>
                          <a:latin typeface="Cambria Math" panose="02040503050406030204" pitchFamily="18" charset="0"/>
                        </a:rPr>
                        <m:t>1</m:t>
                      </m:r>
                    </m:oMath>
                  </m:oMathPara>
                </a14:m>
                <a:endParaRPr lang="en-US" dirty="0">
                  <a:solidFill>
                    <a:schemeClr val="accent6">
                      <a:lumMod val="50000"/>
                    </a:schemeClr>
                  </a:solidFill>
                </a:endParaRPr>
              </a:p>
            </p:txBody>
          </p:sp>
        </mc:Choice>
        <mc:Fallback>
          <p:sp>
            <p:nvSpPr>
              <p:cNvPr id="5" name="TextBox 4">
                <a:extLst>
                  <a:ext uri="{FF2B5EF4-FFF2-40B4-BE49-F238E27FC236}">
                    <a16:creationId xmlns:a16="http://schemas.microsoft.com/office/drawing/2014/main" id="{1E5B675E-F042-CD14-4550-B6E09A8507C6}"/>
                  </a:ext>
                </a:extLst>
              </p:cNvPr>
              <p:cNvSpPr txBox="1">
                <a:spLocks noRot="1" noChangeAspect="1" noMove="1" noResize="1" noEditPoints="1" noAdjustHandles="1" noChangeArrowheads="1" noChangeShapeType="1" noTextEdit="1"/>
              </p:cNvSpPr>
              <p:nvPr/>
            </p:nvSpPr>
            <p:spPr>
              <a:xfrm>
                <a:off x="89941" y="2823752"/>
                <a:ext cx="4020951" cy="461665"/>
              </a:xfrm>
              <a:prstGeom prst="rect">
                <a:avLst/>
              </a:prstGeom>
              <a:blipFill>
                <a:blip r:embed="rId3"/>
                <a:stretch>
                  <a:fillRect l="-45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3AD2631-CF5E-66B6-7B0B-6D2F159A6E1B}"/>
              </a:ext>
            </a:extLst>
          </p:cNvPr>
          <p:cNvSpPr txBox="1"/>
          <p:nvPr/>
        </p:nvSpPr>
        <p:spPr>
          <a:xfrm>
            <a:off x="6176718" y="4061449"/>
            <a:ext cx="5837898" cy="830997"/>
          </a:xfrm>
          <a:prstGeom prst="rect">
            <a:avLst/>
          </a:prstGeom>
          <a:noFill/>
        </p:spPr>
        <p:txBody>
          <a:bodyPr wrap="square" rtlCol="0">
            <a:spAutoFit/>
          </a:bodyPr>
          <a:lstStyle/>
          <a:p>
            <a:pPr algn="r" rtl="1"/>
            <a:r>
              <a:rPr lang="fa-IR" sz="2400" dirty="0">
                <a:latin typeface="Vazirmatn Light" pitchFamily="2" charset="-78"/>
                <a:cs typeface="Vazirmatn Light" pitchFamily="2" charset="-78"/>
              </a:rPr>
              <a:t>سپس از سمت چپ به ترتیب اولویت های انجام عملیات محاسبات را انجام می دهیم</a:t>
            </a:r>
            <a:endParaRPr lang="en-US" sz="2400" dirty="0">
              <a:latin typeface="Vazirmatn Light" pitchFamily="2" charset="-78"/>
              <a:cs typeface="Vazirmatn Light" pitchFamily="2" charset="-78"/>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847E3F8-03C9-A602-CBA8-E6F1232D8535}"/>
                  </a:ext>
                </a:extLst>
              </p:cNvPr>
              <p:cNvSpPr txBox="1"/>
              <p:nvPr/>
            </p:nvSpPr>
            <p:spPr>
              <a:xfrm>
                <a:off x="89941" y="3425251"/>
                <a:ext cx="4020951" cy="461665"/>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fa-IR" sz="2400" b="0" i="1" smtClean="0">
                          <a:solidFill>
                            <a:schemeClr val="accent5">
                              <a:lumMod val="50000"/>
                            </a:schemeClr>
                          </a:solidFill>
                          <a:latin typeface="Cambria Math" panose="02040503050406030204" pitchFamily="18" charset="0"/>
                        </a:rPr>
                        <m:t>4</m:t>
                      </m:r>
                      <m:r>
                        <a:rPr lang="en-US" sz="2400" b="0" i="1" smtClean="0">
                          <a:solidFill>
                            <a:schemeClr val="accent5">
                              <a:lumMod val="50000"/>
                            </a:schemeClr>
                          </a:solidFill>
                          <a:latin typeface="Cambria Math" panose="02040503050406030204" pitchFamily="18" charset="0"/>
                        </a:rPr>
                        <m:t>−</m:t>
                      </m:r>
                      <m:r>
                        <a:rPr lang="fa-IR" sz="2400" b="0" i="1" smtClean="0">
                          <a:solidFill>
                            <a:schemeClr val="accent5">
                              <a:lumMod val="50000"/>
                            </a:schemeClr>
                          </a:solidFill>
                          <a:latin typeface="Cambria Math" panose="02040503050406030204" pitchFamily="18" charset="0"/>
                        </a:rPr>
                        <m:t>4</m:t>
                      </m:r>
                      <m:r>
                        <a:rPr lang="fa-IR" sz="2400" b="0" i="1" smtClean="0">
                          <a:solidFill>
                            <a:schemeClr val="accent5">
                              <a:lumMod val="50000"/>
                            </a:schemeClr>
                          </a:solidFill>
                          <a:latin typeface="Cambria Math" panose="02040503050406030204" pitchFamily="18" charset="0"/>
                        </a:rPr>
                        <m:t>× </m:t>
                      </m:r>
                      <m:sSup>
                        <m:sSupPr>
                          <m:ctrlPr>
                            <a:rPr lang="fa-IR" sz="2400" b="0" i="1" smtClean="0">
                              <a:solidFill>
                                <a:schemeClr val="accent5">
                                  <a:lumMod val="50000"/>
                                </a:schemeClr>
                              </a:solidFill>
                              <a:latin typeface="Cambria Math" panose="02040503050406030204" pitchFamily="18" charset="0"/>
                            </a:rPr>
                          </m:ctrlPr>
                        </m:sSupPr>
                        <m:e>
                          <m:r>
                            <a:rPr lang="fa-IR" sz="2400" b="0" i="1" smtClean="0">
                              <a:solidFill>
                                <a:schemeClr val="accent5">
                                  <a:lumMod val="50000"/>
                                </a:schemeClr>
                              </a:solidFill>
                              <a:latin typeface="Cambria Math" panose="02040503050406030204" pitchFamily="18" charset="0"/>
                            </a:rPr>
                            <m:t>3</m:t>
                          </m:r>
                        </m:e>
                        <m:sup>
                          <m:r>
                            <a:rPr lang="fa-IR" sz="2400" b="0" i="1" smtClean="0">
                              <a:solidFill>
                                <a:schemeClr val="accent5">
                                  <a:lumMod val="50000"/>
                                </a:schemeClr>
                              </a:solidFill>
                              <a:latin typeface="Cambria Math" panose="02040503050406030204" pitchFamily="18" charset="0"/>
                            </a:rPr>
                            <m:t>2</m:t>
                          </m:r>
                        </m:sup>
                      </m:sSup>
                      <m:r>
                        <a:rPr lang="fa-IR" sz="2400" b="0" i="1" smtClean="0">
                          <a:solidFill>
                            <a:schemeClr val="accent5">
                              <a:lumMod val="50000"/>
                            </a:schemeClr>
                          </a:solidFill>
                          <a:latin typeface="Cambria Math" panose="02040503050406030204" pitchFamily="18" charset="0"/>
                        </a:rPr>
                        <m:t>÷</m:t>
                      </m:r>
                      <m:r>
                        <a:rPr lang="fa-IR" sz="2400" b="0" i="1" smtClean="0">
                          <a:solidFill>
                            <a:schemeClr val="accent5">
                              <a:lumMod val="50000"/>
                            </a:schemeClr>
                          </a:solidFill>
                          <a:latin typeface="Cambria Math" panose="02040503050406030204" pitchFamily="18" charset="0"/>
                        </a:rPr>
                        <m:t>6</m:t>
                      </m:r>
                      <m:r>
                        <a:rPr lang="fa-IR" sz="2400" b="0" i="1" smtClean="0">
                          <a:solidFill>
                            <a:schemeClr val="accent5">
                              <a:lumMod val="50000"/>
                            </a:schemeClr>
                          </a:solidFill>
                          <a:latin typeface="Cambria Math" panose="02040503050406030204" pitchFamily="18" charset="0"/>
                        </a:rPr>
                        <m:t> −</m:t>
                      </m:r>
                      <m:r>
                        <a:rPr lang="fa-IR" sz="2400" b="0" i="1" smtClean="0">
                          <a:solidFill>
                            <a:schemeClr val="accent5">
                              <a:lumMod val="50000"/>
                            </a:schemeClr>
                          </a:solidFill>
                          <a:latin typeface="Cambria Math" panose="02040503050406030204" pitchFamily="18" charset="0"/>
                        </a:rPr>
                        <m:t>1</m:t>
                      </m:r>
                      <m:r>
                        <a:rPr lang="en-US" sz="2400" b="0" i="1" smtClean="0">
                          <a:solidFill>
                            <a:schemeClr val="accent5">
                              <a:lumMod val="50000"/>
                            </a:schemeClr>
                          </a:solidFill>
                          <a:latin typeface="Cambria Math" panose="02040503050406030204" pitchFamily="18" charset="0"/>
                        </a:rPr>
                        <m:t>=</m:t>
                      </m:r>
                    </m:oMath>
                  </m:oMathPara>
                </a14:m>
                <a:endParaRPr lang="en-US" dirty="0">
                  <a:solidFill>
                    <a:schemeClr val="accent5">
                      <a:lumMod val="50000"/>
                    </a:schemeClr>
                  </a:solidFill>
                </a:endParaRPr>
              </a:p>
            </p:txBody>
          </p:sp>
        </mc:Choice>
        <mc:Fallback>
          <p:sp>
            <p:nvSpPr>
              <p:cNvPr id="7" name="TextBox 6">
                <a:extLst>
                  <a:ext uri="{FF2B5EF4-FFF2-40B4-BE49-F238E27FC236}">
                    <a16:creationId xmlns:a16="http://schemas.microsoft.com/office/drawing/2014/main" id="{E847E3F8-03C9-A602-CBA8-E6F1232D8535}"/>
                  </a:ext>
                </a:extLst>
              </p:cNvPr>
              <p:cNvSpPr txBox="1">
                <a:spLocks noRot="1" noChangeAspect="1" noMove="1" noResize="1" noEditPoints="1" noAdjustHandles="1" noChangeArrowheads="1" noChangeShapeType="1" noTextEdit="1"/>
              </p:cNvSpPr>
              <p:nvPr/>
            </p:nvSpPr>
            <p:spPr>
              <a:xfrm>
                <a:off x="89941" y="3425251"/>
                <a:ext cx="4020951" cy="461665"/>
              </a:xfrm>
              <a:prstGeom prst="rect">
                <a:avLst/>
              </a:prstGeom>
              <a:blipFill>
                <a:blip r:embed="rId4"/>
                <a:stretch>
                  <a:fillRect l="-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6C77797-E77F-E5D6-6F7C-C4A1A3ACD79E}"/>
                  </a:ext>
                </a:extLst>
              </p:cNvPr>
              <p:cNvSpPr txBox="1"/>
              <p:nvPr/>
            </p:nvSpPr>
            <p:spPr>
              <a:xfrm>
                <a:off x="89940" y="4015283"/>
                <a:ext cx="4020951" cy="461665"/>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fa-IR" sz="2400" b="0" i="1" smtClean="0">
                          <a:solidFill>
                            <a:schemeClr val="accent4">
                              <a:lumMod val="50000"/>
                            </a:schemeClr>
                          </a:solidFill>
                          <a:latin typeface="Cambria Math" panose="02040503050406030204" pitchFamily="18" charset="0"/>
                        </a:rPr>
                        <m:t>4</m:t>
                      </m:r>
                      <m:r>
                        <a:rPr lang="en-US" sz="2400" b="0" i="1" smtClean="0">
                          <a:solidFill>
                            <a:schemeClr val="accent4">
                              <a:lumMod val="50000"/>
                            </a:schemeClr>
                          </a:solidFill>
                          <a:latin typeface="Cambria Math" panose="02040503050406030204" pitchFamily="18" charset="0"/>
                        </a:rPr>
                        <m:t>−</m:t>
                      </m:r>
                      <m:r>
                        <a:rPr lang="fa-IR" sz="2400" b="0" i="1" smtClean="0">
                          <a:solidFill>
                            <a:schemeClr val="accent4">
                              <a:lumMod val="50000"/>
                            </a:schemeClr>
                          </a:solidFill>
                          <a:latin typeface="Cambria Math" panose="02040503050406030204" pitchFamily="18" charset="0"/>
                        </a:rPr>
                        <m:t>4</m:t>
                      </m:r>
                      <m:r>
                        <a:rPr lang="fa-IR" sz="2400" b="0" i="1" smtClean="0">
                          <a:solidFill>
                            <a:schemeClr val="accent4">
                              <a:lumMod val="50000"/>
                            </a:schemeClr>
                          </a:solidFill>
                          <a:latin typeface="Cambria Math" panose="02040503050406030204" pitchFamily="18" charset="0"/>
                        </a:rPr>
                        <m:t>×</m:t>
                      </m:r>
                      <m:r>
                        <a:rPr lang="fa-IR" sz="2400" b="0" i="1" smtClean="0">
                          <a:solidFill>
                            <a:schemeClr val="accent4">
                              <a:lumMod val="50000"/>
                            </a:schemeClr>
                          </a:solidFill>
                          <a:latin typeface="Cambria Math" panose="02040503050406030204" pitchFamily="18" charset="0"/>
                        </a:rPr>
                        <m:t>9</m:t>
                      </m:r>
                      <m:r>
                        <a:rPr lang="fa-IR" sz="2400" b="0" i="1" smtClean="0">
                          <a:solidFill>
                            <a:schemeClr val="accent4">
                              <a:lumMod val="50000"/>
                            </a:schemeClr>
                          </a:solidFill>
                          <a:latin typeface="Cambria Math" panose="02040503050406030204" pitchFamily="18" charset="0"/>
                        </a:rPr>
                        <m:t>÷</m:t>
                      </m:r>
                      <m:r>
                        <a:rPr lang="fa-IR" sz="2400" b="0" i="1" smtClean="0">
                          <a:solidFill>
                            <a:schemeClr val="accent4">
                              <a:lumMod val="50000"/>
                            </a:schemeClr>
                          </a:solidFill>
                          <a:latin typeface="Cambria Math" panose="02040503050406030204" pitchFamily="18" charset="0"/>
                        </a:rPr>
                        <m:t>6</m:t>
                      </m:r>
                      <m:r>
                        <a:rPr lang="fa-IR" sz="2400" b="0" i="1" smtClean="0">
                          <a:solidFill>
                            <a:schemeClr val="accent4">
                              <a:lumMod val="50000"/>
                            </a:schemeClr>
                          </a:solidFill>
                          <a:latin typeface="Cambria Math" panose="02040503050406030204" pitchFamily="18" charset="0"/>
                        </a:rPr>
                        <m:t> −</m:t>
                      </m:r>
                      <m:r>
                        <a:rPr lang="fa-IR" sz="2400" b="0" i="1" smtClean="0">
                          <a:solidFill>
                            <a:schemeClr val="accent4">
                              <a:lumMod val="50000"/>
                            </a:schemeClr>
                          </a:solidFill>
                          <a:latin typeface="Cambria Math" panose="02040503050406030204" pitchFamily="18" charset="0"/>
                        </a:rPr>
                        <m:t>1</m:t>
                      </m:r>
                      <m:r>
                        <a:rPr lang="en-US" sz="2400" b="0" i="1" smtClean="0">
                          <a:solidFill>
                            <a:schemeClr val="accent4">
                              <a:lumMod val="50000"/>
                            </a:schemeClr>
                          </a:solidFill>
                          <a:latin typeface="Cambria Math" panose="02040503050406030204" pitchFamily="18" charset="0"/>
                        </a:rPr>
                        <m:t>=</m:t>
                      </m:r>
                    </m:oMath>
                  </m:oMathPara>
                </a14:m>
                <a:endParaRPr lang="en-US" dirty="0">
                  <a:solidFill>
                    <a:schemeClr val="accent4">
                      <a:lumMod val="50000"/>
                    </a:schemeClr>
                  </a:solidFill>
                </a:endParaRPr>
              </a:p>
            </p:txBody>
          </p:sp>
        </mc:Choice>
        <mc:Fallback>
          <p:sp>
            <p:nvSpPr>
              <p:cNvPr id="8" name="TextBox 7">
                <a:extLst>
                  <a:ext uri="{FF2B5EF4-FFF2-40B4-BE49-F238E27FC236}">
                    <a16:creationId xmlns:a16="http://schemas.microsoft.com/office/drawing/2014/main" id="{F6C77797-E77F-E5D6-6F7C-C4A1A3ACD79E}"/>
                  </a:ext>
                </a:extLst>
              </p:cNvPr>
              <p:cNvSpPr txBox="1">
                <a:spLocks noRot="1" noChangeAspect="1" noMove="1" noResize="1" noEditPoints="1" noAdjustHandles="1" noChangeArrowheads="1" noChangeShapeType="1" noTextEdit="1"/>
              </p:cNvSpPr>
              <p:nvPr/>
            </p:nvSpPr>
            <p:spPr>
              <a:xfrm>
                <a:off x="89940" y="4015283"/>
                <a:ext cx="4020951" cy="461665"/>
              </a:xfrm>
              <a:prstGeom prst="rect">
                <a:avLst/>
              </a:prstGeom>
              <a:blipFill>
                <a:blip r:embed="rId5"/>
                <a:stretch>
                  <a:fillRect l="-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539CB8B-30CD-DBDB-5CEE-CAF0A700A938}"/>
                  </a:ext>
                </a:extLst>
              </p:cNvPr>
              <p:cNvSpPr txBox="1"/>
              <p:nvPr/>
            </p:nvSpPr>
            <p:spPr>
              <a:xfrm>
                <a:off x="89939" y="4616782"/>
                <a:ext cx="4020951" cy="461665"/>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fa-IR" sz="2400" b="0" i="1" smtClean="0">
                          <a:solidFill>
                            <a:schemeClr val="accent3">
                              <a:lumMod val="50000"/>
                            </a:schemeClr>
                          </a:solidFill>
                          <a:latin typeface="Cambria Math" panose="02040503050406030204" pitchFamily="18" charset="0"/>
                        </a:rPr>
                        <m:t>4</m:t>
                      </m:r>
                      <m:r>
                        <a:rPr lang="en-US" sz="2400" b="0" i="1" smtClean="0">
                          <a:solidFill>
                            <a:schemeClr val="accent3">
                              <a:lumMod val="50000"/>
                            </a:schemeClr>
                          </a:solidFill>
                          <a:latin typeface="Cambria Math" panose="02040503050406030204" pitchFamily="18" charset="0"/>
                        </a:rPr>
                        <m:t>−</m:t>
                      </m:r>
                      <m:r>
                        <a:rPr lang="fa-IR" sz="2400" b="0" i="1" smtClean="0">
                          <a:solidFill>
                            <a:schemeClr val="accent3">
                              <a:lumMod val="50000"/>
                            </a:schemeClr>
                          </a:solidFill>
                          <a:latin typeface="Cambria Math" panose="02040503050406030204" pitchFamily="18" charset="0"/>
                        </a:rPr>
                        <m:t>36</m:t>
                      </m:r>
                      <m:r>
                        <a:rPr lang="fa-IR" sz="2400" b="0" i="1" smtClean="0">
                          <a:solidFill>
                            <a:schemeClr val="accent3">
                              <a:lumMod val="50000"/>
                            </a:schemeClr>
                          </a:solidFill>
                          <a:latin typeface="Cambria Math" panose="02040503050406030204" pitchFamily="18" charset="0"/>
                        </a:rPr>
                        <m:t>÷</m:t>
                      </m:r>
                      <m:r>
                        <a:rPr lang="fa-IR" sz="2400" b="0" i="1" smtClean="0">
                          <a:solidFill>
                            <a:schemeClr val="accent3">
                              <a:lumMod val="50000"/>
                            </a:schemeClr>
                          </a:solidFill>
                          <a:latin typeface="Cambria Math" panose="02040503050406030204" pitchFamily="18" charset="0"/>
                        </a:rPr>
                        <m:t>6</m:t>
                      </m:r>
                      <m:r>
                        <a:rPr lang="fa-IR" sz="2400" b="0" i="1" smtClean="0">
                          <a:solidFill>
                            <a:schemeClr val="accent3">
                              <a:lumMod val="50000"/>
                            </a:schemeClr>
                          </a:solidFill>
                          <a:latin typeface="Cambria Math" panose="02040503050406030204" pitchFamily="18" charset="0"/>
                        </a:rPr>
                        <m:t> −</m:t>
                      </m:r>
                      <m:r>
                        <a:rPr lang="fa-IR" sz="2400" b="0" i="1" smtClean="0">
                          <a:solidFill>
                            <a:schemeClr val="accent3">
                              <a:lumMod val="50000"/>
                            </a:schemeClr>
                          </a:solidFill>
                          <a:latin typeface="Cambria Math" panose="02040503050406030204" pitchFamily="18" charset="0"/>
                        </a:rPr>
                        <m:t>1</m:t>
                      </m:r>
                      <m:r>
                        <a:rPr lang="en-US" sz="2400" b="0" i="1" smtClean="0">
                          <a:solidFill>
                            <a:schemeClr val="accent3">
                              <a:lumMod val="50000"/>
                            </a:schemeClr>
                          </a:solidFill>
                          <a:latin typeface="Cambria Math" panose="02040503050406030204" pitchFamily="18" charset="0"/>
                        </a:rPr>
                        <m:t>=</m:t>
                      </m:r>
                    </m:oMath>
                  </m:oMathPara>
                </a14:m>
                <a:endParaRPr lang="en-US" dirty="0">
                  <a:solidFill>
                    <a:schemeClr val="accent3">
                      <a:lumMod val="50000"/>
                    </a:schemeClr>
                  </a:solidFill>
                </a:endParaRPr>
              </a:p>
            </p:txBody>
          </p:sp>
        </mc:Choice>
        <mc:Fallback>
          <p:sp>
            <p:nvSpPr>
              <p:cNvPr id="11" name="TextBox 10">
                <a:extLst>
                  <a:ext uri="{FF2B5EF4-FFF2-40B4-BE49-F238E27FC236}">
                    <a16:creationId xmlns:a16="http://schemas.microsoft.com/office/drawing/2014/main" id="{9539CB8B-30CD-DBDB-5CEE-CAF0A700A938}"/>
                  </a:ext>
                </a:extLst>
              </p:cNvPr>
              <p:cNvSpPr txBox="1">
                <a:spLocks noRot="1" noChangeAspect="1" noMove="1" noResize="1" noEditPoints="1" noAdjustHandles="1" noChangeArrowheads="1" noChangeShapeType="1" noTextEdit="1"/>
              </p:cNvSpPr>
              <p:nvPr/>
            </p:nvSpPr>
            <p:spPr>
              <a:xfrm>
                <a:off x="89939" y="4616782"/>
                <a:ext cx="4020951" cy="461665"/>
              </a:xfrm>
              <a:prstGeom prst="rect">
                <a:avLst/>
              </a:prstGeom>
              <a:blipFill>
                <a:blip r:embed="rId6"/>
                <a:stretch>
                  <a:fillRect l="-45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D18B137-E619-B59C-6405-B576B976C263}"/>
                  </a:ext>
                </a:extLst>
              </p:cNvPr>
              <p:cNvSpPr txBox="1"/>
              <p:nvPr/>
            </p:nvSpPr>
            <p:spPr>
              <a:xfrm>
                <a:off x="89939" y="5216348"/>
                <a:ext cx="4020951" cy="523220"/>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r>
                        <a:rPr lang="fa-IR" sz="2800" b="0" i="1" smtClean="0">
                          <a:solidFill>
                            <a:srgbClr val="C00000"/>
                          </a:solidFill>
                          <a:latin typeface="Cambria Math" panose="02040503050406030204" pitchFamily="18" charset="0"/>
                        </a:rPr>
                        <m:t>4</m:t>
                      </m:r>
                      <m:r>
                        <a:rPr lang="en-US" sz="2800" b="0" i="1" smtClean="0">
                          <a:solidFill>
                            <a:srgbClr val="C00000"/>
                          </a:solidFill>
                          <a:latin typeface="Cambria Math" panose="02040503050406030204" pitchFamily="18" charset="0"/>
                        </a:rPr>
                        <m:t>−</m:t>
                      </m:r>
                      <m:r>
                        <a:rPr lang="fa-IR" sz="2800" b="0" i="1" smtClean="0">
                          <a:solidFill>
                            <a:srgbClr val="C00000"/>
                          </a:solidFill>
                          <a:latin typeface="Cambria Math" panose="02040503050406030204" pitchFamily="18" charset="0"/>
                        </a:rPr>
                        <m:t>6</m:t>
                      </m:r>
                      <m:r>
                        <a:rPr lang="fa-IR" sz="2800" b="0" i="1" smtClean="0">
                          <a:solidFill>
                            <a:srgbClr val="C00000"/>
                          </a:solidFill>
                          <a:latin typeface="Cambria Math" panose="02040503050406030204" pitchFamily="18" charset="0"/>
                        </a:rPr>
                        <m:t> −</m:t>
                      </m:r>
                      <m:r>
                        <a:rPr lang="fa-IR" sz="2800" b="0" i="1" smtClean="0">
                          <a:solidFill>
                            <a:srgbClr val="C00000"/>
                          </a:solidFill>
                          <a:latin typeface="Cambria Math" panose="02040503050406030204" pitchFamily="18" charset="0"/>
                        </a:rPr>
                        <m:t>1</m:t>
                      </m:r>
                      <m:r>
                        <a:rPr lang="en-US" sz="2800" b="0" i="1" smtClean="0">
                          <a:solidFill>
                            <a:srgbClr val="C00000"/>
                          </a:solidFill>
                          <a:latin typeface="Cambria Math" panose="02040503050406030204" pitchFamily="18" charset="0"/>
                        </a:rPr>
                        <m:t>=</m:t>
                      </m:r>
                      <m:r>
                        <a:rPr lang="fa-IR" sz="2800" b="0" i="1" smtClean="0">
                          <a:solidFill>
                            <a:srgbClr val="C00000"/>
                          </a:solidFill>
                          <a:latin typeface="Cambria Math" panose="02040503050406030204" pitchFamily="18" charset="0"/>
                        </a:rPr>
                        <m:t>−</m:t>
                      </m:r>
                      <m:r>
                        <a:rPr lang="fa-IR" sz="2800" b="0" i="1" smtClean="0">
                          <a:solidFill>
                            <a:srgbClr val="C00000"/>
                          </a:solidFill>
                          <a:latin typeface="Cambria Math" panose="02040503050406030204" pitchFamily="18" charset="0"/>
                        </a:rPr>
                        <m:t>3</m:t>
                      </m:r>
                    </m:oMath>
                  </m:oMathPara>
                </a14:m>
                <a:endParaRPr lang="en-US" sz="2000" dirty="0">
                  <a:solidFill>
                    <a:srgbClr val="C00000"/>
                  </a:solidFill>
                </a:endParaRPr>
              </a:p>
            </p:txBody>
          </p:sp>
        </mc:Choice>
        <mc:Fallback>
          <p:sp>
            <p:nvSpPr>
              <p:cNvPr id="12" name="TextBox 11">
                <a:extLst>
                  <a:ext uri="{FF2B5EF4-FFF2-40B4-BE49-F238E27FC236}">
                    <a16:creationId xmlns:a16="http://schemas.microsoft.com/office/drawing/2014/main" id="{2D18B137-E619-B59C-6405-B576B976C263}"/>
                  </a:ext>
                </a:extLst>
              </p:cNvPr>
              <p:cNvSpPr txBox="1">
                <a:spLocks noRot="1" noChangeAspect="1" noMove="1" noResize="1" noEditPoints="1" noAdjustHandles="1" noChangeArrowheads="1" noChangeShapeType="1" noTextEdit="1"/>
              </p:cNvSpPr>
              <p:nvPr/>
            </p:nvSpPr>
            <p:spPr>
              <a:xfrm>
                <a:off x="89939" y="5216348"/>
                <a:ext cx="4020951" cy="523220"/>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8729390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 calcmode="lin" valueType="num">
                                      <p:cBhvr>
                                        <p:cTn id="38" dur="1000" fill="hold"/>
                                        <p:tgtEl>
                                          <p:spTgt spid="4"/>
                                        </p:tgtEl>
                                        <p:attrNameLst>
                                          <p:attrName>ppt_w</p:attrName>
                                        </p:attrNameLst>
                                      </p:cBhvr>
                                      <p:tavLst>
                                        <p:tav tm="0">
                                          <p:val>
                                            <p:fltVal val="0"/>
                                          </p:val>
                                        </p:tav>
                                        <p:tav tm="100000">
                                          <p:val>
                                            <p:strVal val="#ppt_w"/>
                                          </p:val>
                                        </p:tav>
                                      </p:tavLst>
                                    </p:anim>
                                    <p:anim calcmode="lin" valueType="num">
                                      <p:cBhvr>
                                        <p:cTn id="39" dur="1000" fill="hold"/>
                                        <p:tgtEl>
                                          <p:spTgt spid="4"/>
                                        </p:tgtEl>
                                        <p:attrNameLst>
                                          <p:attrName>ppt_h</p:attrName>
                                        </p:attrNameLst>
                                      </p:cBhvr>
                                      <p:tavLst>
                                        <p:tav tm="0">
                                          <p:val>
                                            <p:fltVal val="0"/>
                                          </p:val>
                                        </p:tav>
                                        <p:tav tm="100000">
                                          <p:val>
                                            <p:strVal val="#ppt_h"/>
                                          </p:val>
                                        </p:tav>
                                      </p:tavLst>
                                    </p:anim>
                                    <p:anim calcmode="lin" valueType="num">
                                      <p:cBhvr>
                                        <p:cTn id="40" dur="1000" fill="hold"/>
                                        <p:tgtEl>
                                          <p:spTgt spid="4"/>
                                        </p:tgtEl>
                                        <p:attrNameLst>
                                          <p:attrName>style.rotation</p:attrName>
                                        </p:attrNameLst>
                                      </p:cBhvr>
                                      <p:tavLst>
                                        <p:tav tm="0">
                                          <p:val>
                                            <p:fltVal val="90"/>
                                          </p:val>
                                        </p:tav>
                                        <p:tav tm="100000">
                                          <p:val>
                                            <p:fltVal val="0"/>
                                          </p:val>
                                        </p:tav>
                                      </p:tavLst>
                                    </p:anim>
                                    <p:animEffect transition="in" filter="fade">
                                      <p:cBhvr>
                                        <p:cTn id="41" dur="1000"/>
                                        <p:tgtEl>
                                          <p:spTgt spid="4"/>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500" fill="hold"/>
                                        <p:tgtEl>
                                          <p:spTgt spid="5"/>
                                        </p:tgtEl>
                                        <p:attrNameLst>
                                          <p:attrName>ppt_x</p:attrName>
                                        </p:attrNameLst>
                                      </p:cBhvr>
                                      <p:tavLst>
                                        <p:tav tm="0">
                                          <p:val>
                                            <p:strVal val="#ppt_x"/>
                                          </p:val>
                                        </p:tav>
                                        <p:tav tm="100000">
                                          <p:val>
                                            <p:strVal val="#ppt_x"/>
                                          </p:val>
                                        </p:tav>
                                      </p:tavLst>
                                    </p:anim>
                                    <p:anim calcmode="lin" valueType="num">
                                      <p:cBhvr additive="base">
                                        <p:cTn id="4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6"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down)">
                                      <p:cBhvr>
                                        <p:cTn id="52" dur="580">
                                          <p:stCondLst>
                                            <p:cond delay="0"/>
                                          </p:stCondLst>
                                        </p:cTn>
                                        <p:tgtEl>
                                          <p:spTgt spid="6"/>
                                        </p:tgtEl>
                                      </p:cBhvr>
                                    </p:animEffect>
                                    <p:anim calcmode="lin" valueType="num">
                                      <p:cBhvr>
                                        <p:cTn id="53"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54"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55"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56"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57"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58" dur="26">
                                          <p:stCondLst>
                                            <p:cond delay="650"/>
                                          </p:stCondLst>
                                        </p:cTn>
                                        <p:tgtEl>
                                          <p:spTgt spid="6"/>
                                        </p:tgtEl>
                                      </p:cBhvr>
                                      <p:to x="100000" y="60000"/>
                                    </p:animScale>
                                    <p:animScale>
                                      <p:cBhvr>
                                        <p:cTn id="59" dur="166" decel="50000">
                                          <p:stCondLst>
                                            <p:cond delay="676"/>
                                          </p:stCondLst>
                                        </p:cTn>
                                        <p:tgtEl>
                                          <p:spTgt spid="6"/>
                                        </p:tgtEl>
                                      </p:cBhvr>
                                      <p:to x="100000" y="100000"/>
                                    </p:animScale>
                                    <p:animScale>
                                      <p:cBhvr>
                                        <p:cTn id="60" dur="26">
                                          <p:stCondLst>
                                            <p:cond delay="1312"/>
                                          </p:stCondLst>
                                        </p:cTn>
                                        <p:tgtEl>
                                          <p:spTgt spid="6"/>
                                        </p:tgtEl>
                                      </p:cBhvr>
                                      <p:to x="100000" y="80000"/>
                                    </p:animScale>
                                    <p:animScale>
                                      <p:cBhvr>
                                        <p:cTn id="61" dur="166" decel="50000">
                                          <p:stCondLst>
                                            <p:cond delay="1338"/>
                                          </p:stCondLst>
                                        </p:cTn>
                                        <p:tgtEl>
                                          <p:spTgt spid="6"/>
                                        </p:tgtEl>
                                      </p:cBhvr>
                                      <p:to x="100000" y="100000"/>
                                    </p:animScale>
                                    <p:animScale>
                                      <p:cBhvr>
                                        <p:cTn id="62" dur="26">
                                          <p:stCondLst>
                                            <p:cond delay="1642"/>
                                          </p:stCondLst>
                                        </p:cTn>
                                        <p:tgtEl>
                                          <p:spTgt spid="6"/>
                                        </p:tgtEl>
                                      </p:cBhvr>
                                      <p:to x="100000" y="90000"/>
                                    </p:animScale>
                                    <p:animScale>
                                      <p:cBhvr>
                                        <p:cTn id="63" dur="166" decel="50000">
                                          <p:stCondLst>
                                            <p:cond delay="1668"/>
                                          </p:stCondLst>
                                        </p:cTn>
                                        <p:tgtEl>
                                          <p:spTgt spid="6"/>
                                        </p:tgtEl>
                                      </p:cBhvr>
                                      <p:to x="100000" y="100000"/>
                                    </p:animScale>
                                    <p:animScale>
                                      <p:cBhvr>
                                        <p:cTn id="64" dur="26">
                                          <p:stCondLst>
                                            <p:cond delay="1808"/>
                                          </p:stCondLst>
                                        </p:cTn>
                                        <p:tgtEl>
                                          <p:spTgt spid="6"/>
                                        </p:tgtEl>
                                      </p:cBhvr>
                                      <p:to x="100000" y="95000"/>
                                    </p:animScale>
                                    <p:animScale>
                                      <p:cBhvr>
                                        <p:cTn id="65" dur="166" decel="50000">
                                          <p:stCondLst>
                                            <p:cond delay="1834"/>
                                          </p:stCondLst>
                                        </p:cTn>
                                        <p:tgtEl>
                                          <p:spTgt spid="6"/>
                                        </p:tgtEl>
                                      </p:cBhvr>
                                      <p:to x="100000" y="100000"/>
                                    </p:animScale>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wipe(left)">
                                      <p:cBhvr>
                                        <p:cTn id="70" dur="500"/>
                                        <p:tgtEl>
                                          <p:spTgt spid="7"/>
                                        </p:tgtEl>
                                      </p:cBhvr>
                                    </p:animEffect>
                                  </p:childTnLst>
                                </p:cTn>
                              </p:par>
                            </p:childTnLst>
                          </p:cTn>
                        </p:par>
                      </p:childTnLst>
                    </p:cTn>
                  </p:par>
                  <p:par>
                    <p:cTn id="71" fill="hold">
                      <p:stCondLst>
                        <p:cond delay="indefinite"/>
                      </p:stCondLst>
                      <p:childTnLst>
                        <p:par>
                          <p:cTn id="72" fill="hold">
                            <p:stCondLst>
                              <p:cond delay="0"/>
                            </p:stCondLst>
                            <p:childTnLst>
                              <p:par>
                                <p:cTn id="73" presetID="38" presetClass="entr" presetSubtype="0" accel="50000" fill="hold" grpId="0" nodeType="clickEffect">
                                  <p:stCondLst>
                                    <p:cond delay="0"/>
                                  </p:stCondLst>
                                  <p:iterate type="lt">
                                    <p:tmPct val="50000"/>
                                  </p:iterate>
                                  <p:childTnLst>
                                    <p:set>
                                      <p:cBhvr>
                                        <p:cTn id="74" dur="1" fill="hold">
                                          <p:stCondLst>
                                            <p:cond delay="0"/>
                                          </p:stCondLst>
                                        </p:cTn>
                                        <p:tgtEl>
                                          <p:spTgt spid="8"/>
                                        </p:tgtEl>
                                        <p:attrNameLst>
                                          <p:attrName>style.visibility</p:attrName>
                                        </p:attrNameLst>
                                      </p:cBhvr>
                                      <p:to>
                                        <p:strVal val="visible"/>
                                      </p:to>
                                    </p:set>
                                    <p:set>
                                      <p:cBhvr>
                                        <p:cTn id="75" dur="182" fill="hold">
                                          <p:stCondLst>
                                            <p:cond delay="0"/>
                                          </p:stCondLst>
                                        </p:cTn>
                                        <p:tgtEl>
                                          <p:spTgt spid="8"/>
                                        </p:tgtEl>
                                        <p:attrNameLst>
                                          <p:attrName>style.rotation</p:attrName>
                                        </p:attrNameLst>
                                      </p:cBhvr>
                                      <p:to>
                                        <p:strVal val="-45.0"/>
                                      </p:to>
                                    </p:set>
                                    <p:anim calcmode="lin" valueType="num">
                                      <p:cBhvr>
                                        <p:cTn id="76" dur="182" fill="hold">
                                          <p:stCondLst>
                                            <p:cond delay="182"/>
                                          </p:stCondLst>
                                        </p:cTn>
                                        <p:tgtEl>
                                          <p:spTgt spid="8"/>
                                        </p:tgtEl>
                                        <p:attrNameLst>
                                          <p:attrName>style.rotation</p:attrName>
                                        </p:attrNameLst>
                                      </p:cBhvr>
                                      <p:tavLst>
                                        <p:tav tm="0">
                                          <p:val>
                                            <p:fltVal val="-45"/>
                                          </p:val>
                                        </p:tav>
                                        <p:tav tm="69900">
                                          <p:val>
                                            <p:fltVal val="45"/>
                                          </p:val>
                                        </p:tav>
                                        <p:tav tm="100000">
                                          <p:val>
                                            <p:fltVal val="0"/>
                                          </p:val>
                                        </p:tav>
                                      </p:tavLst>
                                    </p:anim>
                                    <p:anim calcmode="lin" valueType="num">
                                      <p:cBhvr>
                                        <p:cTn id="77" dur="182" fill="hold">
                                          <p:stCondLst>
                                            <p:cond delay="0"/>
                                          </p:stCondLst>
                                        </p:cTn>
                                        <p:tgtEl>
                                          <p:spTgt spid="8"/>
                                        </p:tgtEl>
                                        <p:attrNameLst>
                                          <p:attrName>ppt_y</p:attrName>
                                        </p:attrNameLst>
                                      </p:cBhvr>
                                      <p:tavLst>
                                        <p:tav tm="0">
                                          <p:val>
                                            <p:strVal val="#ppt_y-1"/>
                                          </p:val>
                                        </p:tav>
                                        <p:tav tm="100000">
                                          <p:val>
                                            <p:strVal val="#ppt_y-(0.354*#ppt_w-0.172*#ppt_h)"/>
                                          </p:val>
                                        </p:tav>
                                      </p:tavLst>
                                    </p:anim>
                                    <p:anim calcmode="lin" valueType="num">
                                      <p:cBhvr>
                                        <p:cTn id="78" dur="62" decel="50000" autoRev="1" fill="hold">
                                          <p:stCondLst>
                                            <p:cond delay="182"/>
                                          </p:stCondLst>
                                        </p:cTn>
                                        <p:tgtEl>
                                          <p:spTgt spid="8"/>
                                        </p:tgtEl>
                                        <p:attrNameLst>
                                          <p:attrName>ppt_y</p:attrName>
                                        </p:attrNameLst>
                                      </p:cBhvr>
                                      <p:tavLst>
                                        <p:tav tm="0">
                                          <p:val>
                                            <p:strVal val="#ppt_y-(0.354*#ppt_w-0.172*#ppt_h)"/>
                                          </p:val>
                                        </p:tav>
                                        <p:tav tm="100000">
                                          <p:val>
                                            <p:strVal val="#ppt_y-(0.354*#ppt_w-0.172*#ppt_h)-#ppt_h/2"/>
                                          </p:val>
                                        </p:tav>
                                      </p:tavLst>
                                    </p:anim>
                                    <p:anim calcmode="lin" valueType="num">
                                      <p:cBhvr>
                                        <p:cTn id="79" dur="54" fill="hold">
                                          <p:stCondLst>
                                            <p:cond delay="346"/>
                                          </p:stCondLst>
                                        </p:cTn>
                                        <p:tgtEl>
                                          <p:spTgt spid="8"/>
                                        </p:tgtEl>
                                        <p:attrNameLst>
                                          <p:attrName>ppt_y</p:attrName>
                                        </p:attrNameLst>
                                      </p:cBhvr>
                                      <p:tavLst>
                                        <p:tav tm="0">
                                          <p:val>
                                            <p:strVal val="#ppt_y-(0.354*#ppt_w-0.172*#ppt_h)"/>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6" presetClass="entr" presetSubtype="37" fill="hold" grpId="0" nodeType="clickEffect">
                                  <p:stCondLst>
                                    <p:cond delay="0"/>
                                  </p:stCondLst>
                                  <p:childTnLst>
                                    <p:set>
                                      <p:cBhvr>
                                        <p:cTn id="83" dur="1" fill="hold">
                                          <p:stCondLst>
                                            <p:cond delay="0"/>
                                          </p:stCondLst>
                                        </p:cTn>
                                        <p:tgtEl>
                                          <p:spTgt spid="11"/>
                                        </p:tgtEl>
                                        <p:attrNameLst>
                                          <p:attrName>style.visibility</p:attrName>
                                        </p:attrNameLst>
                                      </p:cBhvr>
                                      <p:to>
                                        <p:strVal val="visible"/>
                                      </p:to>
                                    </p:set>
                                    <p:animEffect transition="in" filter="barn(outVertical)">
                                      <p:cBhvr>
                                        <p:cTn id="84" dur="500"/>
                                        <p:tgtEl>
                                          <p:spTgt spid="11"/>
                                        </p:tgtEl>
                                      </p:cBhvr>
                                    </p:animEffect>
                                  </p:childTnLst>
                                </p:cTn>
                              </p:par>
                            </p:childTnLst>
                          </p:cTn>
                        </p:par>
                      </p:childTnLst>
                    </p:cTn>
                  </p:par>
                  <p:par>
                    <p:cTn id="85" fill="hold">
                      <p:stCondLst>
                        <p:cond delay="indefinite"/>
                      </p:stCondLst>
                      <p:childTnLst>
                        <p:par>
                          <p:cTn id="86" fill="hold">
                            <p:stCondLst>
                              <p:cond delay="0"/>
                            </p:stCondLst>
                            <p:childTnLst>
                              <p:par>
                                <p:cTn id="87" presetID="31" presetClass="entr" presetSubtype="0" fill="hold" grpId="0" nodeType="clickEffect">
                                  <p:stCondLst>
                                    <p:cond delay="0"/>
                                  </p:stCondLst>
                                  <p:childTnLst>
                                    <p:set>
                                      <p:cBhvr>
                                        <p:cTn id="88" dur="1" fill="hold">
                                          <p:stCondLst>
                                            <p:cond delay="0"/>
                                          </p:stCondLst>
                                        </p:cTn>
                                        <p:tgtEl>
                                          <p:spTgt spid="12"/>
                                        </p:tgtEl>
                                        <p:attrNameLst>
                                          <p:attrName>style.visibility</p:attrName>
                                        </p:attrNameLst>
                                      </p:cBhvr>
                                      <p:to>
                                        <p:strVal val="visible"/>
                                      </p:to>
                                    </p:set>
                                    <p:anim calcmode="lin" valueType="num">
                                      <p:cBhvr>
                                        <p:cTn id="89" dur="1000" fill="hold"/>
                                        <p:tgtEl>
                                          <p:spTgt spid="12"/>
                                        </p:tgtEl>
                                        <p:attrNameLst>
                                          <p:attrName>ppt_w</p:attrName>
                                        </p:attrNameLst>
                                      </p:cBhvr>
                                      <p:tavLst>
                                        <p:tav tm="0">
                                          <p:val>
                                            <p:fltVal val="0"/>
                                          </p:val>
                                        </p:tav>
                                        <p:tav tm="100000">
                                          <p:val>
                                            <p:strVal val="#ppt_w"/>
                                          </p:val>
                                        </p:tav>
                                      </p:tavLst>
                                    </p:anim>
                                    <p:anim calcmode="lin" valueType="num">
                                      <p:cBhvr>
                                        <p:cTn id="90" dur="1000" fill="hold"/>
                                        <p:tgtEl>
                                          <p:spTgt spid="12"/>
                                        </p:tgtEl>
                                        <p:attrNameLst>
                                          <p:attrName>ppt_h</p:attrName>
                                        </p:attrNameLst>
                                      </p:cBhvr>
                                      <p:tavLst>
                                        <p:tav tm="0">
                                          <p:val>
                                            <p:fltVal val="0"/>
                                          </p:val>
                                        </p:tav>
                                        <p:tav tm="100000">
                                          <p:val>
                                            <p:strVal val="#ppt_h"/>
                                          </p:val>
                                        </p:tav>
                                      </p:tavLst>
                                    </p:anim>
                                    <p:anim calcmode="lin" valueType="num">
                                      <p:cBhvr>
                                        <p:cTn id="91" dur="1000" fill="hold"/>
                                        <p:tgtEl>
                                          <p:spTgt spid="12"/>
                                        </p:tgtEl>
                                        <p:attrNameLst>
                                          <p:attrName>style.rotation</p:attrName>
                                        </p:attrNameLst>
                                      </p:cBhvr>
                                      <p:tavLst>
                                        <p:tav tm="0">
                                          <p:val>
                                            <p:fltVal val="90"/>
                                          </p:val>
                                        </p:tav>
                                        <p:tav tm="100000">
                                          <p:val>
                                            <p:fltVal val="0"/>
                                          </p:val>
                                        </p:tav>
                                      </p:tavLst>
                                    </p:anim>
                                    <p:animEffect transition="in" filter="fade">
                                      <p:cBhvr>
                                        <p:cTn id="92" dur="1000"/>
                                        <p:tgtEl>
                                          <p:spTgt spid="12"/>
                                        </p:tgtEl>
                                      </p:cBhvr>
                                    </p:animEffect>
                                  </p:childTnLst>
                                </p:cTn>
                              </p:par>
                            </p:childTnLst>
                          </p:cTn>
                        </p:par>
                      </p:childTnLst>
                    </p:cTn>
                  </p:par>
                  <p:par>
                    <p:cTn id="93" fill="hold">
                      <p:stCondLst>
                        <p:cond delay="indefinite"/>
                      </p:stCondLst>
                      <p:childTnLst>
                        <p:par>
                          <p:cTn id="94" fill="hold">
                            <p:stCondLst>
                              <p:cond delay="0"/>
                            </p:stCondLst>
                            <p:childTnLst>
                              <p:par>
                                <p:cTn id="95" presetID="26" presetClass="emph" presetSubtype="0" repeatCount="4000" fill="hold" grpId="1" nodeType="clickEffect">
                                  <p:stCondLst>
                                    <p:cond delay="0"/>
                                  </p:stCondLst>
                                  <p:childTnLst>
                                    <p:animEffect transition="out" filter="fade">
                                      <p:cBhvr>
                                        <p:cTn id="96" dur="500" tmFilter="0, 0; .2, .5; .8, .5; 1, 0"/>
                                        <p:tgtEl>
                                          <p:spTgt spid="12"/>
                                        </p:tgtEl>
                                      </p:cBhvr>
                                    </p:animEffect>
                                    <p:animScale>
                                      <p:cBhvr>
                                        <p:cTn id="97"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11" grpId="0"/>
      <p:bldP spid="12" grpId="0"/>
      <p:bldP spid="12"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3BF75D6-11CF-83FC-6400-9470F255FB47}"/>
                  </a:ext>
                </a:extLst>
              </p:cNvPr>
              <p:cNvSpPr>
                <a:spLocks noGrp="1"/>
              </p:cNvSpPr>
              <p:nvPr>
                <p:ph idx="1"/>
              </p:nvPr>
            </p:nvSpPr>
            <p:spPr>
              <a:xfrm>
                <a:off x="89941" y="217356"/>
                <a:ext cx="11924675" cy="6573187"/>
              </a:xfrm>
            </p:spPr>
            <p:txBody>
              <a:bodyPr>
                <a:normAutofit/>
              </a:bodyPr>
              <a:lstStyle/>
              <a:p>
                <a:pPr marL="0" indent="0" algn="r" rtl="1">
                  <a:lnSpc>
                    <a:spcPct val="100000"/>
                  </a:lnSpc>
                  <a:spcBef>
                    <a:spcPts val="0"/>
                  </a:spcBef>
                  <a:buNone/>
                </a:pPr>
                <a:r>
                  <a:rPr lang="fa-IR" sz="5400" spc="-150" dirty="0">
                    <a:solidFill>
                      <a:schemeClr val="accent6">
                        <a:lumMod val="50000"/>
                      </a:schemeClr>
                    </a:solidFill>
                    <a:latin typeface="Shabnam" panose="020B0603030804020204" pitchFamily="34" charset="-78"/>
                    <a:cs typeface="A Shekari" panose="00000400000000000000" pitchFamily="2" charset="-78"/>
                  </a:rPr>
                  <a:t>الگو های منظم:</a:t>
                </a:r>
                <a:endParaRPr lang="en-US" sz="5400" spc="-150" dirty="0">
                  <a:solidFill>
                    <a:schemeClr val="accent6">
                      <a:lumMod val="50000"/>
                    </a:schemeClr>
                  </a:solidFill>
                  <a:latin typeface="Shabnam" panose="020B0603030804020204" pitchFamily="34" charset="-78"/>
                  <a:cs typeface="A Shekari" panose="00000400000000000000" pitchFamily="2" charset="-78"/>
                </a:endParaRPr>
              </a:p>
              <a:p>
                <a:pPr marL="0" indent="0" algn="r" rtl="1">
                  <a:lnSpc>
                    <a:spcPct val="125000"/>
                  </a:lnSpc>
                  <a:spcBef>
                    <a:spcPts val="2000"/>
                  </a:spcBef>
                  <a:buNone/>
                </a:pPr>
                <a:r>
                  <a:rPr lang="fa-IR" spc="-150" dirty="0">
                    <a:latin typeface="Vazirmatn Light" pitchFamily="2" charset="-78"/>
                    <a:cs typeface="Vazirmatn Light" pitchFamily="2" charset="-78"/>
                  </a:rPr>
                  <a:t>فرمول به دست آوردن تعداد در الگو: </a:t>
                </a:r>
                <a:endParaRPr lang="en-US" spc="-150" dirty="0">
                  <a:latin typeface="Vazirmatn Light" pitchFamily="2" charset="-78"/>
                  <a:cs typeface="Vazirmatn Light" pitchFamily="2" charset="-78"/>
                </a:endParaRPr>
              </a:p>
              <a:p>
                <a:pPr marL="0" indent="0" algn="r" rtl="1">
                  <a:lnSpc>
                    <a:spcPct val="125000"/>
                  </a:lnSpc>
                  <a:spcBef>
                    <a:spcPts val="2000"/>
                  </a:spcBef>
                  <a:buNone/>
                </a:pPr>
                <a:endParaRPr lang="fa-IR" spc="-150" dirty="0">
                  <a:latin typeface="Vazirmatn Light" pitchFamily="2" charset="-78"/>
                  <a:cs typeface="Vazirmatn Light" pitchFamily="2" charset="-78"/>
                </a:endParaRPr>
              </a:p>
              <a:p>
                <a:pPr marL="0" lvl="0" indent="0" algn="r" rtl="1">
                  <a:lnSpc>
                    <a:spcPct val="100000"/>
                  </a:lnSpc>
                  <a:spcBef>
                    <a:spcPts val="0"/>
                  </a:spcBef>
                  <a:buNone/>
                </a:pPr>
                <a:r>
                  <a:rPr lang="fa-IR" spc="-150" dirty="0">
                    <a:latin typeface="Vazirmatn Light" pitchFamily="2" charset="-78"/>
                    <a:cs typeface="Vazirmatn Light" pitchFamily="2" charset="-78"/>
                  </a:rPr>
                  <a:t>فرمول به دست آوردن حاصل:</a:t>
                </a:r>
              </a:p>
              <a:p>
                <a:pPr marL="0" lvl="0" indent="0" algn="r" rtl="1">
                  <a:lnSpc>
                    <a:spcPct val="100000"/>
                  </a:lnSpc>
                  <a:spcBef>
                    <a:spcPts val="0"/>
                  </a:spcBef>
                  <a:buNone/>
                </a:pPr>
                <a:endParaRPr lang="fa-IR" spc="-150" dirty="0">
                  <a:latin typeface="Shabnam" panose="020B0603030804020204" pitchFamily="34" charset="-78"/>
                  <a:cs typeface="Shabnam" panose="020B0603030804020204" pitchFamily="34" charset="-78"/>
                </a:endParaRPr>
              </a:p>
              <a:p>
                <a:pPr marL="0" lvl="0" indent="0" algn="r" rtl="1">
                  <a:lnSpc>
                    <a:spcPct val="100000"/>
                  </a:lnSpc>
                  <a:spcBef>
                    <a:spcPts val="0"/>
                  </a:spcBef>
                  <a:buNone/>
                </a:pPr>
                <a:r>
                  <a:rPr lang="fa-IR" sz="5400" spc="-150" dirty="0">
                    <a:solidFill>
                      <a:srgbClr val="F19D19">
                        <a:lumMod val="50000"/>
                      </a:srgbClr>
                    </a:solidFill>
                    <a:latin typeface="Shabnam" panose="020B0603030804020204" pitchFamily="34" charset="-78"/>
                    <a:cs typeface="A Shekari" panose="00000400000000000000" pitchFamily="2" charset="-78"/>
                  </a:rPr>
                  <a:t>مثال :</a:t>
                </a:r>
                <a:endParaRPr lang="en-US" sz="5400" spc="-150" dirty="0">
                  <a:solidFill>
                    <a:srgbClr val="F19D19">
                      <a:lumMod val="50000"/>
                    </a:srgbClr>
                  </a:solidFill>
                  <a:latin typeface="Shabnam" panose="020B0603030804020204" pitchFamily="34" charset="-78"/>
                  <a:cs typeface="A Shekari" panose="00000400000000000000" pitchFamily="2" charset="-78"/>
                </a:endParaRPr>
              </a:p>
              <a:p>
                <a:pPr marL="0" lvl="0" indent="0" rtl="1">
                  <a:lnSpc>
                    <a:spcPct val="100000"/>
                  </a:lnSpc>
                  <a:spcBef>
                    <a:spcPts val="0"/>
                  </a:spcBef>
                  <a:buNone/>
                </a:pPr>
                <a14:m>
                  <m:oMathPara xmlns:m="http://schemas.openxmlformats.org/officeDocument/2006/math">
                    <m:oMathParaPr>
                      <m:jc m:val="left"/>
                    </m:oMathParaPr>
                    <m:oMath xmlns:m="http://schemas.openxmlformats.org/officeDocument/2006/math">
                      <m:r>
                        <a:rPr lang="fa-IR" b="0" i="1" spc="-150" smtClean="0">
                          <a:latin typeface="Cambria Math" panose="02040503050406030204" pitchFamily="18" charset="0"/>
                          <a:cs typeface="Vazirmatn Light" pitchFamily="2" charset="-78"/>
                        </a:rPr>
                        <m:t>3</m:t>
                      </m:r>
                      <m:r>
                        <a:rPr lang="fa-IR" b="0" i="1" spc="-150" smtClean="0">
                          <a:latin typeface="Cambria Math" panose="02040503050406030204" pitchFamily="18" charset="0"/>
                          <a:cs typeface="Vazirmatn Light" pitchFamily="2" charset="-78"/>
                        </a:rPr>
                        <m:t>+</m:t>
                      </m:r>
                      <m:r>
                        <a:rPr lang="fa-IR" b="0" i="1" spc="-150" smtClean="0">
                          <a:latin typeface="Cambria Math" panose="02040503050406030204" pitchFamily="18" charset="0"/>
                          <a:cs typeface="Vazirmatn Light" pitchFamily="2" charset="-78"/>
                        </a:rPr>
                        <m:t>6</m:t>
                      </m:r>
                      <m:r>
                        <a:rPr lang="fa-IR" b="0" i="1" spc="-150" smtClean="0">
                          <a:latin typeface="Cambria Math" panose="02040503050406030204" pitchFamily="18" charset="0"/>
                          <a:cs typeface="Vazirmatn Light" pitchFamily="2" charset="-78"/>
                        </a:rPr>
                        <m:t>+</m:t>
                      </m:r>
                      <m:r>
                        <a:rPr lang="fa-IR" b="0" i="1" spc="-150" smtClean="0">
                          <a:latin typeface="Cambria Math" panose="02040503050406030204" pitchFamily="18" charset="0"/>
                          <a:cs typeface="Vazirmatn Light" pitchFamily="2" charset="-78"/>
                        </a:rPr>
                        <m:t>9</m:t>
                      </m:r>
                      <m:r>
                        <a:rPr lang="fa-IR" b="0" i="1" spc="-150" smtClean="0">
                          <a:latin typeface="Cambria Math" panose="02040503050406030204" pitchFamily="18" charset="0"/>
                          <a:cs typeface="Vazirmatn Light" pitchFamily="2" charset="-78"/>
                        </a:rPr>
                        <m:t>+…+</m:t>
                      </m:r>
                      <m:r>
                        <a:rPr lang="fa-IR" b="0" i="1" spc="-150" smtClean="0">
                          <a:latin typeface="Cambria Math" panose="02040503050406030204" pitchFamily="18" charset="0"/>
                          <a:cs typeface="Vazirmatn Light" pitchFamily="2" charset="-78"/>
                        </a:rPr>
                        <m:t>204</m:t>
                      </m:r>
                      <m:r>
                        <a:rPr lang="fa-IR" b="0" i="1" spc="-150" smtClean="0">
                          <a:latin typeface="Cambria Math" panose="02040503050406030204" pitchFamily="18" charset="0"/>
                          <a:cs typeface="Vazirmatn Light" pitchFamily="2" charset="-78"/>
                        </a:rPr>
                        <m:t>=</m:t>
                      </m:r>
                    </m:oMath>
                  </m:oMathPara>
                </a14:m>
                <a:endParaRPr lang="fa-IR" spc="-150" dirty="0">
                  <a:latin typeface="Vazirmatn Light" pitchFamily="2" charset="-78"/>
                  <a:cs typeface="Vazirmatn Light" pitchFamily="2" charset="-78"/>
                </a:endParaRPr>
              </a:p>
              <a:p>
                <a:pPr marL="0" lvl="0" indent="0" rtl="1">
                  <a:lnSpc>
                    <a:spcPct val="100000"/>
                  </a:lnSpc>
                  <a:spcBef>
                    <a:spcPts val="0"/>
                  </a:spcBef>
                  <a:buNone/>
                </a:pPr>
                <a:endParaRPr lang="en-US" spc="-150" dirty="0">
                  <a:latin typeface="Vazirmatn Light" pitchFamily="2" charset="-78"/>
                  <a:cs typeface="Vazirmatn Light" pitchFamily="2" charset="-78"/>
                </a:endParaRPr>
              </a:p>
            </p:txBody>
          </p:sp>
        </mc:Choice>
        <mc:Fallback>
          <p:sp>
            <p:nvSpPr>
              <p:cNvPr id="3" name="Content Placeholder 2">
                <a:extLst>
                  <a:ext uri="{FF2B5EF4-FFF2-40B4-BE49-F238E27FC236}">
                    <a16:creationId xmlns:a16="http://schemas.microsoft.com/office/drawing/2014/main" id="{13BF75D6-11CF-83FC-6400-9470F255FB47}"/>
                  </a:ext>
                </a:extLst>
              </p:cNvPr>
              <p:cNvSpPr>
                <a:spLocks noGrp="1" noRot="1" noChangeAspect="1" noMove="1" noResize="1" noEditPoints="1" noAdjustHandles="1" noChangeArrowheads="1" noChangeShapeType="1" noTextEdit="1"/>
              </p:cNvSpPr>
              <p:nvPr>
                <p:ph idx="1"/>
              </p:nvPr>
            </p:nvSpPr>
            <p:spPr>
              <a:xfrm>
                <a:off x="89941" y="217356"/>
                <a:ext cx="11924675" cy="6573187"/>
              </a:xfrm>
              <a:blipFill>
                <a:blip r:embed="rId2"/>
                <a:stretch>
                  <a:fillRect l="-256" t="-2690" r="-271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8D7ADEE-6CCD-5A4F-42C9-E487A475E55F}"/>
                  </a:ext>
                </a:extLst>
              </p:cNvPr>
              <p:cNvSpPr txBox="1"/>
              <p:nvPr/>
            </p:nvSpPr>
            <p:spPr>
              <a:xfrm>
                <a:off x="445475" y="1219200"/>
                <a:ext cx="3441193" cy="1343509"/>
              </a:xfrm>
              <a:prstGeom prst="rect">
                <a:avLst/>
              </a:prstGeom>
              <a:noFill/>
            </p:spPr>
            <p:txBody>
              <a:bodyPr wrap="square" rtlCol="0">
                <a:spAutoFit/>
              </a:bodyPr>
              <a:lstStyle/>
              <a:p>
                <a:pPr rtl="1"/>
                <a14:m>
                  <m:oMathPara xmlns:m="http://schemas.openxmlformats.org/officeDocument/2006/math">
                    <m:oMathParaPr>
                      <m:jc m:val="centerGroup"/>
                    </m:oMathParaPr>
                    <m:oMath xmlns:m="http://schemas.openxmlformats.org/officeDocument/2006/math">
                      <m:f>
                        <m:fPr>
                          <m:ctrlPr>
                            <a:rPr lang="en-US" sz="2400" i="1" smtClean="0">
                              <a:latin typeface="Shabnam" panose="020B0603030804020204" pitchFamily="34" charset="-78"/>
                              <a:cs typeface="Shabnam" panose="020B0603030804020204" pitchFamily="34" charset="-78"/>
                            </a:rPr>
                          </m:ctrlPr>
                        </m:fPr>
                        <m:num>
                          <m:r>
                            <a:rPr lang="fa-IR" sz="2400" b="0" i="1" smtClean="0">
                              <a:latin typeface="Shabnam" panose="020B0603030804020204" pitchFamily="34" charset="-78"/>
                              <a:cs typeface="Shabnam" panose="020B0603030804020204" pitchFamily="34" charset="-78"/>
                            </a:rPr>
                            <m:t>آخر</m:t>
                          </m:r>
                          <m:r>
                            <a:rPr lang="fa-IR" sz="2400" b="0" i="1" smtClean="0">
                              <a:latin typeface="Shabnam" panose="020B0603030804020204" pitchFamily="34" charset="-78"/>
                              <a:cs typeface="Shabnam" panose="020B0603030804020204" pitchFamily="34" charset="-78"/>
                            </a:rPr>
                            <m:t> </m:t>
                          </m:r>
                          <m:r>
                            <a:rPr lang="fa-IR" sz="2400" b="0" i="1" smtClean="0">
                              <a:latin typeface="Shabnam" panose="020B0603030804020204" pitchFamily="34" charset="-78"/>
                              <a:cs typeface="Shabnam" panose="020B0603030804020204" pitchFamily="34" charset="-78"/>
                            </a:rPr>
                            <m:t>عدد</m:t>
                          </m:r>
                          <m:r>
                            <a:rPr lang="fa-IR" sz="2400" b="0" i="1" smtClean="0">
                              <a:latin typeface="Shabnam" panose="020B0603030804020204" pitchFamily="34" charset="-78"/>
                              <a:cs typeface="Shabnam" panose="020B0603030804020204" pitchFamily="34" charset="-78"/>
                            </a:rPr>
                            <m:t> −</m:t>
                          </m:r>
                          <m:r>
                            <a:rPr lang="fa-IR" sz="2400" b="0" i="1" smtClean="0">
                              <a:latin typeface="Shabnam" panose="020B0603030804020204" pitchFamily="34" charset="-78"/>
                              <a:cs typeface="Shabnam" panose="020B0603030804020204" pitchFamily="34" charset="-78"/>
                            </a:rPr>
                            <m:t>اول</m:t>
                          </m:r>
                          <m:r>
                            <a:rPr lang="fa-IR" sz="2400" b="0" i="1" smtClean="0">
                              <a:latin typeface="Shabnam" panose="020B0603030804020204" pitchFamily="34" charset="-78"/>
                              <a:cs typeface="Shabnam" panose="020B0603030804020204" pitchFamily="34" charset="-78"/>
                            </a:rPr>
                            <m:t> </m:t>
                          </m:r>
                          <m:r>
                            <a:rPr lang="fa-IR" sz="2400" b="0" i="1" smtClean="0">
                              <a:latin typeface="Shabnam" panose="020B0603030804020204" pitchFamily="34" charset="-78"/>
                              <a:cs typeface="Shabnam" panose="020B0603030804020204" pitchFamily="34" charset="-78"/>
                            </a:rPr>
                            <m:t>عدد</m:t>
                          </m:r>
                        </m:num>
                        <m:den>
                          <m:r>
                            <a:rPr lang="fa-IR" sz="2400" b="0" i="1" smtClean="0">
                              <a:latin typeface="Shabnam" panose="020B0603030804020204" pitchFamily="34" charset="-78"/>
                              <a:cs typeface="Shabnam" panose="020B0603030804020204" pitchFamily="34" charset="-78"/>
                            </a:rPr>
                            <m:t>فاصله</m:t>
                          </m:r>
                        </m:den>
                      </m:f>
                      <m:r>
                        <a:rPr lang="fa-IR" sz="2400" b="0" i="1" smtClean="0">
                          <a:latin typeface="Shabnam" panose="020B0603030804020204" pitchFamily="34" charset="-78"/>
                          <a:cs typeface="Shabnam" panose="020B0603030804020204" pitchFamily="34" charset="-78"/>
                        </a:rPr>
                        <m:t>+</m:t>
                      </m:r>
                      <m:r>
                        <a:rPr lang="fa-IR" sz="2400" b="0" i="1" smtClean="0">
                          <a:latin typeface="Shabnam" panose="020B0603030804020204" pitchFamily="34" charset="-78"/>
                          <a:cs typeface="Shabnam" panose="020B0603030804020204" pitchFamily="34" charset="-78"/>
                        </a:rPr>
                        <m:t>1</m:t>
                      </m:r>
                    </m:oMath>
                  </m:oMathPara>
                </a14:m>
                <a:endParaRPr lang="fa-IR" sz="2400" b="0" dirty="0">
                  <a:latin typeface="Shabnam" panose="020B0603030804020204" pitchFamily="34" charset="-78"/>
                  <a:cs typeface="Shabnam" panose="020B0603030804020204" pitchFamily="34" charset="-78"/>
                </a:endParaRPr>
              </a:p>
              <a:p>
                <a:pPr rtl="1"/>
                <a:endParaRPr lang="en-US" sz="2400" dirty="0">
                  <a:latin typeface="Shabnam" panose="020B0603030804020204" pitchFamily="34" charset="-78"/>
                  <a:cs typeface="Shabnam" panose="020B0603030804020204" pitchFamily="34" charset="-78"/>
                </a:endParaRPr>
              </a:p>
            </p:txBody>
          </p:sp>
        </mc:Choice>
        <mc:Fallback>
          <p:sp>
            <p:nvSpPr>
              <p:cNvPr id="9" name="TextBox 8">
                <a:extLst>
                  <a:ext uri="{FF2B5EF4-FFF2-40B4-BE49-F238E27FC236}">
                    <a16:creationId xmlns:a16="http://schemas.microsoft.com/office/drawing/2014/main" id="{78D7ADEE-6CCD-5A4F-42C9-E487A475E55F}"/>
                  </a:ext>
                </a:extLst>
              </p:cNvPr>
              <p:cNvSpPr txBox="1">
                <a:spLocks noRot="1" noChangeAspect="1" noMove="1" noResize="1" noEditPoints="1" noAdjustHandles="1" noChangeArrowheads="1" noChangeShapeType="1" noTextEdit="1"/>
              </p:cNvSpPr>
              <p:nvPr/>
            </p:nvSpPr>
            <p:spPr>
              <a:xfrm>
                <a:off x="445475" y="1219200"/>
                <a:ext cx="3441193" cy="134350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40AE6AE6-2DAF-8ECE-0D09-A44B65A10D92}"/>
                  </a:ext>
                </a:extLst>
              </p:cNvPr>
              <p:cNvSpPr txBox="1"/>
              <p:nvPr/>
            </p:nvSpPr>
            <p:spPr>
              <a:xfrm>
                <a:off x="679937" y="2562709"/>
                <a:ext cx="4428357" cy="849592"/>
              </a:xfrm>
              <a:prstGeom prst="rect">
                <a:avLst/>
              </a:prstGeom>
              <a:noFill/>
            </p:spPr>
            <p:txBody>
              <a:bodyPr wrap="square" rtlCol="0">
                <a:spAutoFit/>
              </a:bodyPr>
              <a:lstStyle/>
              <a:p>
                <a:pPr algn="r" rtl="1"/>
                <a14:m>
                  <m:oMathPara xmlns:m="http://schemas.openxmlformats.org/officeDocument/2006/math">
                    <m:oMathParaPr>
                      <m:jc m:val="left"/>
                    </m:oMathParaPr>
                    <m:oMath xmlns:m="http://schemas.openxmlformats.org/officeDocument/2006/math">
                      <m:f>
                        <m:fPr>
                          <m:ctrlPr>
                            <a:rPr lang="en-US" sz="2400" i="1" smtClean="0">
                              <a:latin typeface="Shabnam" panose="020B0603030804020204" pitchFamily="34" charset="-78"/>
                              <a:cs typeface="Shabnam" panose="020B0603030804020204" pitchFamily="34" charset="-78"/>
                            </a:rPr>
                          </m:ctrlPr>
                        </m:fPr>
                        <m:num>
                          <m:r>
                            <a:rPr lang="fa-IR" sz="2400" b="0" i="1" smtClean="0">
                              <a:latin typeface="Shabnam" panose="020B0603030804020204" pitchFamily="34" charset="-78"/>
                              <a:cs typeface="Shabnam" panose="020B0603030804020204" pitchFamily="34" charset="-78"/>
                            </a:rPr>
                            <m:t>آخر</m:t>
                          </m:r>
                          <m:r>
                            <a:rPr lang="fa-IR" sz="2400" b="0" i="1" smtClean="0">
                              <a:latin typeface="Shabnam" panose="020B0603030804020204" pitchFamily="34" charset="-78"/>
                              <a:cs typeface="Shabnam" panose="020B0603030804020204" pitchFamily="34" charset="-78"/>
                            </a:rPr>
                            <m:t> </m:t>
                          </m:r>
                          <m:r>
                            <a:rPr lang="fa-IR" sz="2400" b="0" i="1" smtClean="0">
                              <a:latin typeface="Shabnam" panose="020B0603030804020204" pitchFamily="34" charset="-78"/>
                              <a:cs typeface="Shabnam" panose="020B0603030804020204" pitchFamily="34" charset="-78"/>
                            </a:rPr>
                            <m:t>عدد</m:t>
                          </m:r>
                          <m:r>
                            <a:rPr lang="fa-IR" sz="2400" b="0" i="1" smtClean="0">
                              <a:latin typeface="Cambria Math" panose="02040503050406030204" pitchFamily="18" charset="0"/>
                              <a:cs typeface="Shabnam" panose="020B0603030804020204" pitchFamily="34" charset="-78"/>
                            </a:rPr>
                            <m:t>+</m:t>
                          </m:r>
                          <m:r>
                            <a:rPr lang="fa-IR" sz="2400" b="0" i="1" smtClean="0">
                              <a:latin typeface="Shabnam" panose="020B0603030804020204" pitchFamily="34" charset="-78"/>
                              <a:cs typeface="Shabnam" panose="020B0603030804020204" pitchFamily="34" charset="-78"/>
                            </a:rPr>
                            <m:t>اول</m:t>
                          </m:r>
                          <m:r>
                            <a:rPr lang="fa-IR" sz="2400" b="0" i="1" smtClean="0">
                              <a:latin typeface="Shabnam" panose="020B0603030804020204" pitchFamily="34" charset="-78"/>
                              <a:cs typeface="Shabnam" panose="020B0603030804020204" pitchFamily="34" charset="-78"/>
                            </a:rPr>
                            <m:t> </m:t>
                          </m:r>
                          <m:r>
                            <a:rPr lang="fa-IR" sz="2400" b="0" i="1" smtClean="0">
                              <a:latin typeface="Shabnam" panose="020B0603030804020204" pitchFamily="34" charset="-78"/>
                              <a:cs typeface="Shabnam" panose="020B0603030804020204" pitchFamily="34" charset="-78"/>
                            </a:rPr>
                            <m:t>عدد</m:t>
                          </m:r>
                        </m:num>
                        <m:den>
                          <m:r>
                            <a:rPr lang="fa-IR" sz="2400" b="0" i="1" smtClean="0">
                              <a:latin typeface="Cambria Math" panose="02040503050406030204" pitchFamily="18" charset="0"/>
                              <a:cs typeface="Shabnam" panose="020B0603030804020204" pitchFamily="34" charset="-78"/>
                            </a:rPr>
                            <m:t>2</m:t>
                          </m:r>
                        </m:den>
                      </m:f>
                      <m:r>
                        <a:rPr lang="fa-IR" sz="2400" b="0" i="1" smtClean="0">
                          <a:latin typeface="Cambria Math" panose="02040503050406030204" pitchFamily="18" charset="0"/>
                          <a:cs typeface="Shabnam" panose="020B0603030804020204" pitchFamily="34" charset="-78"/>
                        </a:rPr>
                        <m:t>×</m:t>
                      </m:r>
                      <m:r>
                        <a:rPr lang="fa-IR" sz="2400" b="0" i="1" smtClean="0">
                          <a:latin typeface="Cambria Math" panose="02040503050406030204" pitchFamily="18" charset="0"/>
                          <a:cs typeface="Shabnam" panose="020B0603030804020204" pitchFamily="34" charset="-78"/>
                        </a:rPr>
                        <m:t>تعداد</m:t>
                      </m:r>
                    </m:oMath>
                  </m:oMathPara>
                </a14:m>
                <a:endParaRPr lang="en-US" sz="2400" dirty="0">
                  <a:latin typeface="Shabnam" panose="020B0603030804020204" pitchFamily="34" charset="-78"/>
                  <a:cs typeface="Shabnam" panose="020B0603030804020204" pitchFamily="34" charset="-78"/>
                </a:endParaRPr>
              </a:p>
            </p:txBody>
          </p:sp>
        </mc:Choice>
        <mc:Fallback>
          <p:sp>
            <p:nvSpPr>
              <p:cNvPr id="10" name="TextBox 9">
                <a:extLst>
                  <a:ext uri="{FF2B5EF4-FFF2-40B4-BE49-F238E27FC236}">
                    <a16:creationId xmlns:a16="http://schemas.microsoft.com/office/drawing/2014/main" id="{40AE6AE6-2DAF-8ECE-0D09-A44B65A10D92}"/>
                  </a:ext>
                </a:extLst>
              </p:cNvPr>
              <p:cNvSpPr txBox="1">
                <a:spLocks noRot="1" noChangeAspect="1" noMove="1" noResize="1" noEditPoints="1" noAdjustHandles="1" noChangeArrowheads="1" noChangeShapeType="1" noTextEdit="1"/>
              </p:cNvSpPr>
              <p:nvPr/>
            </p:nvSpPr>
            <p:spPr>
              <a:xfrm>
                <a:off x="679937" y="2562709"/>
                <a:ext cx="4428357" cy="84959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99656639-F0A0-E5B5-9A71-6E0AF7295BDE}"/>
                  </a:ext>
                </a:extLst>
              </p:cNvPr>
              <p:cNvSpPr txBox="1"/>
              <p:nvPr/>
            </p:nvSpPr>
            <p:spPr>
              <a:xfrm>
                <a:off x="89941" y="4935018"/>
                <a:ext cx="5918616" cy="703782"/>
              </a:xfrm>
              <a:prstGeom prst="rect">
                <a:avLst/>
              </a:prstGeom>
              <a:noFill/>
            </p:spPr>
            <p:txBody>
              <a:bodyPr wrap="square" rtlCol="0">
                <a:spAutoFit/>
              </a:bodyPr>
              <a:lstStyle/>
              <a:p>
                <a:pPr rtl="1"/>
                <a14:m>
                  <m:oMath xmlns:m="http://schemas.openxmlformats.org/officeDocument/2006/math">
                    <m:r>
                      <a:rPr lang="en-US" sz="2800" b="0" i="1" smtClean="0">
                        <a:latin typeface="Cambria Math" panose="02040503050406030204" pitchFamily="18" charset="0"/>
                        <a:cs typeface="Shabnam" panose="020B0603030804020204" pitchFamily="34" charset="-78"/>
                      </a:rPr>
                      <m:t> </m:t>
                    </m:r>
                    <m:f>
                      <m:fPr>
                        <m:ctrlPr>
                          <a:rPr lang="fa-IR" sz="2800" i="1" smtClean="0">
                            <a:latin typeface="Cambria Math" panose="02040503050406030204" pitchFamily="18" charset="0"/>
                            <a:cs typeface="Shabnam" panose="020B0603030804020204" pitchFamily="34" charset="-78"/>
                          </a:rPr>
                        </m:ctrlPr>
                      </m:fPr>
                      <m:num>
                        <m:r>
                          <a:rPr lang="en-US" sz="2800" b="0" i="1" smtClean="0">
                            <a:latin typeface="Cambria Math" panose="02040503050406030204" pitchFamily="18" charset="0"/>
                            <a:cs typeface="Shabnam" panose="020B0603030804020204" pitchFamily="34" charset="-78"/>
                          </a:rPr>
                          <m:t>204</m:t>
                        </m:r>
                        <m:r>
                          <a:rPr lang="en-US"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3</m:t>
                        </m:r>
                      </m:num>
                      <m:den>
                        <m:r>
                          <a:rPr lang="en-US" sz="2800" b="0" i="1" smtClean="0">
                            <a:latin typeface="Cambria Math" panose="02040503050406030204" pitchFamily="18" charset="0"/>
                            <a:cs typeface="Shabnam" panose="020B0603030804020204" pitchFamily="34" charset="-78"/>
                          </a:rPr>
                          <m:t>3</m:t>
                        </m:r>
                      </m:den>
                    </m:f>
                    <m:r>
                      <a:rPr lang="en-US"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1</m:t>
                    </m:r>
                    <m:r>
                      <a:rPr lang="en-US"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67</m:t>
                    </m:r>
                    <m:r>
                      <a:rPr lang="en-US"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1</m:t>
                    </m:r>
                    <m:r>
                      <a:rPr lang="en-US"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68</m:t>
                    </m:r>
                  </m:oMath>
                </a14:m>
                <a:r>
                  <a:rPr lang="fa-IR" sz="2400" dirty="0">
                    <a:latin typeface="Shabnam" panose="020B0603030804020204" pitchFamily="34" charset="-78"/>
                    <a:cs typeface="Shabnam" panose="020B0603030804020204" pitchFamily="34" charset="-78"/>
                  </a:rPr>
                  <a:t>= تعداد اعداد</a:t>
                </a:r>
                <a:endParaRPr lang="en-US" sz="2400" dirty="0">
                  <a:latin typeface="Shabnam" panose="020B0603030804020204" pitchFamily="34" charset="-78"/>
                  <a:cs typeface="Shabnam" panose="020B0603030804020204" pitchFamily="34" charset="-78"/>
                </a:endParaRPr>
              </a:p>
            </p:txBody>
          </p:sp>
        </mc:Choice>
        <mc:Fallback>
          <p:sp>
            <p:nvSpPr>
              <p:cNvPr id="13" name="TextBox 12">
                <a:extLst>
                  <a:ext uri="{FF2B5EF4-FFF2-40B4-BE49-F238E27FC236}">
                    <a16:creationId xmlns:a16="http://schemas.microsoft.com/office/drawing/2014/main" id="{99656639-F0A0-E5B5-9A71-6E0AF7295BDE}"/>
                  </a:ext>
                </a:extLst>
              </p:cNvPr>
              <p:cNvSpPr txBox="1">
                <a:spLocks noRot="1" noChangeAspect="1" noMove="1" noResize="1" noEditPoints="1" noAdjustHandles="1" noChangeArrowheads="1" noChangeShapeType="1" noTextEdit="1"/>
              </p:cNvSpPr>
              <p:nvPr/>
            </p:nvSpPr>
            <p:spPr>
              <a:xfrm>
                <a:off x="89941" y="4935018"/>
                <a:ext cx="5918616" cy="703782"/>
              </a:xfrm>
              <a:prstGeom prst="rect">
                <a:avLst/>
              </a:prstGeom>
              <a:blipFill>
                <a:blip r:embed="rId5"/>
                <a:stretch>
                  <a:fillRect l="-1648" b="-104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7A07ED68-162B-6D06-E4B1-3F9EFD3E965C}"/>
                  </a:ext>
                </a:extLst>
              </p:cNvPr>
              <p:cNvSpPr txBox="1"/>
              <p:nvPr/>
            </p:nvSpPr>
            <p:spPr>
              <a:xfrm>
                <a:off x="89941" y="5691931"/>
                <a:ext cx="5918617" cy="701602"/>
              </a:xfrm>
              <a:prstGeom prst="rect">
                <a:avLst/>
              </a:prstGeom>
              <a:noFill/>
            </p:spPr>
            <p:txBody>
              <a:bodyPr wrap="square" rtlCol="0">
                <a:spAutoFit/>
              </a:bodyPr>
              <a:lstStyle/>
              <a:p>
                <a:pPr rtl="1"/>
                <a14:m>
                  <m:oMath xmlns:m="http://schemas.openxmlformats.org/officeDocument/2006/math">
                    <m:r>
                      <a:rPr lang="en-US" sz="2800" b="0" i="1" smtClean="0">
                        <a:latin typeface="Cambria Math" panose="02040503050406030204" pitchFamily="18" charset="0"/>
                        <a:cs typeface="Shabnam" panose="020B0603030804020204" pitchFamily="34" charset="-78"/>
                      </a:rPr>
                      <m:t> </m:t>
                    </m:r>
                    <m:f>
                      <m:fPr>
                        <m:ctrlPr>
                          <a:rPr lang="fa-IR" sz="2800" i="1" smtClean="0">
                            <a:latin typeface="Cambria Math" panose="02040503050406030204" pitchFamily="18" charset="0"/>
                            <a:cs typeface="Shabnam" panose="020B0603030804020204" pitchFamily="34" charset="-78"/>
                          </a:rPr>
                        </m:ctrlPr>
                      </m:fPr>
                      <m:num>
                        <m:r>
                          <a:rPr lang="en-US" sz="2800" b="0" i="1" smtClean="0">
                            <a:latin typeface="Cambria Math" panose="02040503050406030204" pitchFamily="18" charset="0"/>
                            <a:cs typeface="Shabnam" panose="020B0603030804020204" pitchFamily="34" charset="-78"/>
                          </a:rPr>
                          <m:t>204</m:t>
                        </m:r>
                        <m:r>
                          <a:rPr lang="fa-IR" sz="2800" b="0" i="1" smtClean="0">
                            <a:latin typeface="Cambria Math" panose="02040503050406030204" pitchFamily="18" charset="0"/>
                            <a:cs typeface="Shabnam" panose="020B0603030804020204" pitchFamily="34" charset="-78"/>
                          </a:rPr>
                          <m:t>+</m:t>
                        </m:r>
                        <m:r>
                          <a:rPr lang="en-US" sz="2800" b="0" i="1" smtClean="0">
                            <a:latin typeface="Cambria Math" panose="02040503050406030204" pitchFamily="18" charset="0"/>
                            <a:cs typeface="Shabnam" panose="020B0603030804020204" pitchFamily="34" charset="-78"/>
                          </a:rPr>
                          <m:t>3</m:t>
                        </m:r>
                      </m:num>
                      <m:den>
                        <m:r>
                          <a:rPr lang="fa-IR" sz="2800" b="0" i="1" smtClean="0">
                            <a:latin typeface="Cambria Math" panose="02040503050406030204" pitchFamily="18" charset="0"/>
                            <a:cs typeface="Shabnam" panose="020B0603030804020204" pitchFamily="34" charset="-78"/>
                          </a:rPr>
                          <m:t>2</m:t>
                        </m:r>
                      </m:den>
                    </m:f>
                    <m:r>
                      <a:rPr lang="fa-IR" sz="2800" b="0" i="1" smtClean="0">
                        <a:latin typeface="Cambria Math" panose="02040503050406030204" pitchFamily="18" charset="0"/>
                        <a:cs typeface="Shabnam" panose="020B0603030804020204" pitchFamily="34" charset="-78"/>
                      </a:rPr>
                      <m:t>×</m:t>
                    </m:r>
                    <m:r>
                      <a:rPr lang="fa-IR" sz="2800" b="0" i="1" smtClean="0">
                        <a:latin typeface="Cambria Math" panose="02040503050406030204" pitchFamily="18" charset="0"/>
                        <a:cs typeface="Shabnam" panose="020B0603030804020204" pitchFamily="34" charset="-78"/>
                      </a:rPr>
                      <m:t>68</m:t>
                    </m:r>
                    <m:r>
                      <a:rPr lang="en-US" sz="2800" b="0" i="1" smtClean="0">
                        <a:latin typeface="Cambria Math" panose="02040503050406030204" pitchFamily="18" charset="0"/>
                        <a:cs typeface="Shabnam" panose="020B0603030804020204" pitchFamily="34" charset="-78"/>
                      </a:rPr>
                      <m:t>=</m:t>
                    </m:r>
                    <m:r>
                      <a:rPr lang="fa-IR" sz="2800" b="0" i="1" smtClean="0">
                        <a:latin typeface="Cambria Math" panose="02040503050406030204" pitchFamily="18" charset="0"/>
                        <a:cs typeface="Shabnam" panose="020B0603030804020204" pitchFamily="34" charset="-78"/>
                      </a:rPr>
                      <m:t>207</m:t>
                    </m:r>
                    <m:r>
                      <a:rPr lang="fa-IR" sz="2800" b="0" i="1" smtClean="0">
                        <a:latin typeface="Cambria Math" panose="02040503050406030204" pitchFamily="18" charset="0"/>
                        <a:cs typeface="Shabnam" panose="020B0603030804020204" pitchFamily="34" charset="-78"/>
                      </a:rPr>
                      <m:t>×</m:t>
                    </m:r>
                    <m:r>
                      <a:rPr lang="fa-IR" sz="2800" b="0" i="1" smtClean="0">
                        <a:latin typeface="Cambria Math" panose="02040503050406030204" pitchFamily="18" charset="0"/>
                        <a:cs typeface="Shabnam" panose="020B0603030804020204" pitchFamily="34" charset="-78"/>
                      </a:rPr>
                      <m:t>34</m:t>
                    </m:r>
                    <m:r>
                      <a:rPr lang="en-US" sz="2800" b="0" i="1" smtClean="0">
                        <a:latin typeface="Cambria Math" panose="02040503050406030204" pitchFamily="18" charset="0"/>
                        <a:cs typeface="Shabnam" panose="020B0603030804020204" pitchFamily="34" charset="-78"/>
                      </a:rPr>
                      <m:t>=</m:t>
                    </m:r>
                  </m:oMath>
                </a14:m>
                <a:r>
                  <a:rPr lang="fa-IR" sz="2400" dirty="0">
                    <a:latin typeface="Shabnam" panose="020B0603030804020204" pitchFamily="34" charset="-78"/>
                    <a:cs typeface="Shabnam" panose="020B0603030804020204" pitchFamily="34" charset="-78"/>
                  </a:rPr>
                  <a:t>= مجموع اعداد</a:t>
                </a:r>
                <a:endParaRPr lang="en-US" sz="2400" dirty="0">
                  <a:latin typeface="Shabnam" panose="020B0603030804020204" pitchFamily="34" charset="-78"/>
                  <a:cs typeface="Shabnam" panose="020B0603030804020204" pitchFamily="34" charset="-78"/>
                </a:endParaRPr>
              </a:p>
            </p:txBody>
          </p:sp>
        </mc:Choice>
        <mc:Fallback>
          <p:sp>
            <p:nvSpPr>
              <p:cNvPr id="14" name="TextBox 13">
                <a:extLst>
                  <a:ext uri="{FF2B5EF4-FFF2-40B4-BE49-F238E27FC236}">
                    <a16:creationId xmlns:a16="http://schemas.microsoft.com/office/drawing/2014/main" id="{7A07ED68-162B-6D06-E4B1-3F9EFD3E965C}"/>
                  </a:ext>
                </a:extLst>
              </p:cNvPr>
              <p:cNvSpPr txBox="1">
                <a:spLocks noRot="1" noChangeAspect="1" noMove="1" noResize="1" noEditPoints="1" noAdjustHandles="1" noChangeArrowheads="1" noChangeShapeType="1" noTextEdit="1"/>
              </p:cNvSpPr>
              <p:nvPr/>
            </p:nvSpPr>
            <p:spPr>
              <a:xfrm>
                <a:off x="89941" y="5691931"/>
                <a:ext cx="5918617" cy="701602"/>
              </a:xfrm>
              <a:prstGeom prst="rect">
                <a:avLst/>
              </a:prstGeom>
              <a:blipFill>
                <a:blip r:embed="rId6"/>
                <a:stretch>
                  <a:fillRect l="-1648" b="-1043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7854003-E403-911F-F737-1DC13DBA8DA0}"/>
                  </a:ext>
                </a:extLst>
              </p:cNvPr>
              <p:cNvSpPr txBox="1"/>
              <p:nvPr/>
            </p:nvSpPr>
            <p:spPr>
              <a:xfrm>
                <a:off x="6008557" y="5825343"/>
                <a:ext cx="939365" cy="523220"/>
              </a:xfrm>
              <a:prstGeom prst="rect">
                <a:avLst/>
              </a:prstGeom>
              <a:noFill/>
            </p:spPr>
            <p:txBody>
              <a:bodyPr wrap="square" rtlCol="0">
                <a:spAutoFit/>
              </a:bodyPr>
              <a:lstStyle/>
              <a:p>
                <a:pPr rtl="1"/>
                <a14:m>
                  <m:oMathPara xmlns:m="http://schemas.openxmlformats.org/officeDocument/2006/math">
                    <m:oMathParaPr>
                      <m:jc m:val="left"/>
                    </m:oMathParaPr>
                    <m:oMath xmlns:m="http://schemas.openxmlformats.org/officeDocument/2006/math">
                      <m:r>
                        <a:rPr lang="fa-IR" sz="2800" b="0" i="1" smtClean="0">
                          <a:latin typeface="Cambria Math" panose="02040503050406030204" pitchFamily="18" charset="0"/>
                          <a:cs typeface="Shabnam" panose="020B0603030804020204" pitchFamily="34" charset="-78"/>
                        </a:rPr>
                        <m:t>7038</m:t>
                      </m:r>
                    </m:oMath>
                  </m:oMathPara>
                </a14:m>
                <a:endParaRPr lang="en-US" sz="2800" dirty="0">
                  <a:latin typeface="Shabnam" panose="020B0603030804020204" pitchFamily="34" charset="-78"/>
                  <a:cs typeface="Shabnam" panose="020B0603030804020204" pitchFamily="34" charset="-78"/>
                </a:endParaRPr>
              </a:p>
            </p:txBody>
          </p:sp>
        </mc:Choice>
        <mc:Fallback>
          <p:sp>
            <p:nvSpPr>
              <p:cNvPr id="16" name="TextBox 15">
                <a:extLst>
                  <a:ext uri="{FF2B5EF4-FFF2-40B4-BE49-F238E27FC236}">
                    <a16:creationId xmlns:a16="http://schemas.microsoft.com/office/drawing/2014/main" id="{C7854003-E403-911F-F737-1DC13DBA8DA0}"/>
                  </a:ext>
                </a:extLst>
              </p:cNvPr>
              <p:cNvSpPr txBox="1">
                <a:spLocks noRot="1" noChangeAspect="1" noMove="1" noResize="1" noEditPoints="1" noAdjustHandles="1" noChangeArrowheads="1" noChangeShapeType="1" noTextEdit="1"/>
              </p:cNvSpPr>
              <p:nvPr/>
            </p:nvSpPr>
            <p:spPr>
              <a:xfrm>
                <a:off x="6008557" y="5825343"/>
                <a:ext cx="939365" cy="523220"/>
              </a:xfrm>
              <a:prstGeom prst="rect">
                <a:avLst/>
              </a:prstGeom>
              <a:blipFill>
                <a:blip r:embed="rId7"/>
                <a:stretch>
                  <a:fillRect l="-3247" r="-5844"/>
                </a:stretch>
              </a:blipFill>
            </p:spPr>
            <p:txBody>
              <a:bodyPr/>
              <a:lstStyle/>
              <a:p>
                <a:r>
                  <a:rPr lang="en-US">
                    <a:noFill/>
                  </a:rPr>
                  <a:t> </a:t>
                </a:r>
              </a:p>
            </p:txBody>
          </p:sp>
        </mc:Fallback>
      </mc:AlternateContent>
    </p:spTree>
    <p:extLst>
      <p:ext uri="{BB962C8B-B14F-4D97-AF65-F5344CB8AC3E}">
        <p14:creationId xmlns:p14="http://schemas.microsoft.com/office/powerpoint/2010/main" val="163195415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100"/>
                                  </p:iterate>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p:cTn id="27"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8"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9"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0" dur="10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80">
                                          <p:stCondLst>
                                            <p:cond delay="0"/>
                                          </p:stCondLst>
                                        </p:cTn>
                                        <p:tgtEl>
                                          <p:spTgt spid="10"/>
                                        </p:tgtEl>
                                      </p:cBhvr>
                                    </p:animEffect>
                                    <p:anim calcmode="lin" valueType="num">
                                      <p:cBhvr>
                                        <p:cTn id="36"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41" dur="26">
                                          <p:stCondLst>
                                            <p:cond delay="650"/>
                                          </p:stCondLst>
                                        </p:cTn>
                                        <p:tgtEl>
                                          <p:spTgt spid="10"/>
                                        </p:tgtEl>
                                      </p:cBhvr>
                                      <p:to x="100000" y="60000"/>
                                    </p:animScale>
                                    <p:animScale>
                                      <p:cBhvr>
                                        <p:cTn id="42" dur="166" decel="50000">
                                          <p:stCondLst>
                                            <p:cond delay="676"/>
                                          </p:stCondLst>
                                        </p:cTn>
                                        <p:tgtEl>
                                          <p:spTgt spid="10"/>
                                        </p:tgtEl>
                                      </p:cBhvr>
                                      <p:to x="100000" y="100000"/>
                                    </p:animScale>
                                    <p:animScale>
                                      <p:cBhvr>
                                        <p:cTn id="43" dur="26">
                                          <p:stCondLst>
                                            <p:cond delay="1312"/>
                                          </p:stCondLst>
                                        </p:cTn>
                                        <p:tgtEl>
                                          <p:spTgt spid="10"/>
                                        </p:tgtEl>
                                      </p:cBhvr>
                                      <p:to x="100000" y="80000"/>
                                    </p:animScale>
                                    <p:animScale>
                                      <p:cBhvr>
                                        <p:cTn id="44" dur="166" decel="50000">
                                          <p:stCondLst>
                                            <p:cond delay="1338"/>
                                          </p:stCondLst>
                                        </p:cTn>
                                        <p:tgtEl>
                                          <p:spTgt spid="10"/>
                                        </p:tgtEl>
                                      </p:cBhvr>
                                      <p:to x="100000" y="100000"/>
                                    </p:animScale>
                                    <p:animScale>
                                      <p:cBhvr>
                                        <p:cTn id="45" dur="26">
                                          <p:stCondLst>
                                            <p:cond delay="1642"/>
                                          </p:stCondLst>
                                        </p:cTn>
                                        <p:tgtEl>
                                          <p:spTgt spid="10"/>
                                        </p:tgtEl>
                                      </p:cBhvr>
                                      <p:to x="100000" y="90000"/>
                                    </p:animScale>
                                    <p:animScale>
                                      <p:cBhvr>
                                        <p:cTn id="46" dur="166" decel="50000">
                                          <p:stCondLst>
                                            <p:cond delay="1668"/>
                                          </p:stCondLst>
                                        </p:cTn>
                                        <p:tgtEl>
                                          <p:spTgt spid="10"/>
                                        </p:tgtEl>
                                      </p:cBhvr>
                                      <p:to x="100000" y="100000"/>
                                    </p:animScale>
                                    <p:animScale>
                                      <p:cBhvr>
                                        <p:cTn id="47" dur="26">
                                          <p:stCondLst>
                                            <p:cond delay="1808"/>
                                          </p:stCondLst>
                                        </p:cTn>
                                        <p:tgtEl>
                                          <p:spTgt spid="10"/>
                                        </p:tgtEl>
                                      </p:cBhvr>
                                      <p:to x="100000" y="95000"/>
                                    </p:animScale>
                                    <p:animScale>
                                      <p:cBhvr>
                                        <p:cTn id="48" dur="166" decel="50000">
                                          <p:stCondLst>
                                            <p:cond delay="1834"/>
                                          </p:stCondLst>
                                        </p:cTn>
                                        <p:tgtEl>
                                          <p:spTgt spid="10"/>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p:cTn id="53"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4"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5"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6" dur="10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 calcmode="lin" valueType="num">
                                      <p:cBhvr>
                                        <p:cTn id="61"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2"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3"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4" dur="1000"/>
                                        <p:tgtEl>
                                          <p:spTgt spid="3">
                                            <p:txEl>
                                              <p:pRg st="6" end="6"/>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47" presetClass="entr" presetSubtype="0"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1000"/>
                                        <p:tgtEl>
                                          <p:spTgt spid="13"/>
                                        </p:tgtEl>
                                      </p:cBhvr>
                                    </p:animEffect>
                                    <p:anim calcmode="lin" valueType="num">
                                      <p:cBhvr>
                                        <p:cTn id="70" dur="1000" fill="hold"/>
                                        <p:tgtEl>
                                          <p:spTgt spid="13"/>
                                        </p:tgtEl>
                                        <p:attrNameLst>
                                          <p:attrName>ppt_x</p:attrName>
                                        </p:attrNameLst>
                                      </p:cBhvr>
                                      <p:tavLst>
                                        <p:tav tm="0">
                                          <p:val>
                                            <p:strVal val="#ppt_x"/>
                                          </p:val>
                                        </p:tav>
                                        <p:tav tm="100000">
                                          <p:val>
                                            <p:strVal val="#ppt_x"/>
                                          </p:val>
                                        </p:tav>
                                      </p:tavLst>
                                    </p:anim>
                                    <p:anim calcmode="lin" valueType="num">
                                      <p:cBhvr>
                                        <p:cTn id="7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50" presetClass="entr" presetSubtype="0" decel="10000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p:cTn id="76" dur="1000" fill="hold"/>
                                        <p:tgtEl>
                                          <p:spTgt spid="14"/>
                                        </p:tgtEl>
                                        <p:attrNameLst>
                                          <p:attrName>ppt_w</p:attrName>
                                        </p:attrNameLst>
                                      </p:cBhvr>
                                      <p:tavLst>
                                        <p:tav tm="0">
                                          <p:val>
                                            <p:strVal val="#ppt_w+.3"/>
                                          </p:val>
                                        </p:tav>
                                        <p:tav tm="100000">
                                          <p:val>
                                            <p:strVal val="#ppt_w"/>
                                          </p:val>
                                        </p:tav>
                                      </p:tavLst>
                                    </p:anim>
                                    <p:anim calcmode="lin" valueType="num">
                                      <p:cBhvr>
                                        <p:cTn id="77" dur="1000" fill="hold"/>
                                        <p:tgtEl>
                                          <p:spTgt spid="14"/>
                                        </p:tgtEl>
                                        <p:attrNameLst>
                                          <p:attrName>ppt_h</p:attrName>
                                        </p:attrNameLst>
                                      </p:cBhvr>
                                      <p:tavLst>
                                        <p:tav tm="0">
                                          <p:val>
                                            <p:strVal val="#ppt_h"/>
                                          </p:val>
                                        </p:tav>
                                        <p:tav tm="100000">
                                          <p:val>
                                            <p:strVal val="#ppt_h"/>
                                          </p:val>
                                        </p:tav>
                                      </p:tavLst>
                                    </p:anim>
                                    <p:animEffect transition="in" filter="fade">
                                      <p:cBhvr>
                                        <p:cTn id="78" dur="1000"/>
                                        <p:tgtEl>
                                          <p:spTgt spid="14"/>
                                        </p:tgtEl>
                                      </p:cBhvr>
                                    </p:animEffect>
                                  </p:childTnLst>
                                </p:cTn>
                              </p:par>
                            </p:childTnLst>
                          </p:cTn>
                        </p:par>
                      </p:childTnLst>
                    </p:cTn>
                  </p:par>
                  <p:par>
                    <p:cTn id="79" fill="hold">
                      <p:stCondLst>
                        <p:cond delay="indefinite"/>
                      </p:stCondLst>
                      <p:childTnLst>
                        <p:par>
                          <p:cTn id="80" fill="hold">
                            <p:stCondLst>
                              <p:cond delay="0"/>
                            </p:stCondLst>
                            <p:childTnLst>
                              <p:par>
                                <p:cTn id="81" presetID="38" presetClass="entr" presetSubtype="0" accel="50000" fill="hold" grpId="0" nodeType="clickEffect">
                                  <p:stCondLst>
                                    <p:cond delay="0"/>
                                  </p:stCondLst>
                                  <p:iterate type="lt">
                                    <p:tmPct val="50000"/>
                                  </p:iterate>
                                  <p:childTnLst>
                                    <p:set>
                                      <p:cBhvr>
                                        <p:cTn id="82" dur="1" fill="hold">
                                          <p:stCondLst>
                                            <p:cond delay="0"/>
                                          </p:stCondLst>
                                        </p:cTn>
                                        <p:tgtEl>
                                          <p:spTgt spid="16"/>
                                        </p:tgtEl>
                                        <p:attrNameLst>
                                          <p:attrName>style.visibility</p:attrName>
                                        </p:attrNameLst>
                                      </p:cBhvr>
                                      <p:to>
                                        <p:strVal val="visible"/>
                                      </p:to>
                                    </p:set>
                                    <p:set>
                                      <p:cBhvr>
                                        <p:cTn id="83" dur="455" fill="hold">
                                          <p:stCondLst>
                                            <p:cond delay="0"/>
                                          </p:stCondLst>
                                        </p:cTn>
                                        <p:tgtEl>
                                          <p:spTgt spid="16"/>
                                        </p:tgtEl>
                                        <p:attrNameLst>
                                          <p:attrName>style.rotation</p:attrName>
                                        </p:attrNameLst>
                                      </p:cBhvr>
                                      <p:to>
                                        <p:strVal val="-45.0"/>
                                      </p:to>
                                    </p:set>
                                    <p:anim calcmode="lin" valueType="num">
                                      <p:cBhvr>
                                        <p:cTn id="84" dur="455" fill="hold">
                                          <p:stCondLst>
                                            <p:cond delay="455"/>
                                          </p:stCondLst>
                                        </p:cTn>
                                        <p:tgtEl>
                                          <p:spTgt spid="16"/>
                                        </p:tgtEl>
                                        <p:attrNameLst>
                                          <p:attrName>style.rotation</p:attrName>
                                        </p:attrNameLst>
                                      </p:cBhvr>
                                      <p:tavLst>
                                        <p:tav tm="0">
                                          <p:val>
                                            <p:fltVal val="-45"/>
                                          </p:val>
                                        </p:tav>
                                        <p:tav tm="69900">
                                          <p:val>
                                            <p:fltVal val="45"/>
                                          </p:val>
                                        </p:tav>
                                        <p:tav tm="100000">
                                          <p:val>
                                            <p:fltVal val="0"/>
                                          </p:val>
                                        </p:tav>
                                      </p:tavLst>
                                    </p:anim>
                                    <p:anim calcmode="lin" valueType="num">
                                      <p:cBhvr>
                                        <p:cTn id="85" dur="455" fill="hold">
                                          <p:stCondLst>
                                            <p:cond delay="0"/>
                                          </p:stCondLst>
                                        </p:cTn>
                                        <p:tgtEl>
                                          <p:spTgt spid="16"/>
                                        </p:tgtEl>
                                        <p:attrNameLst>
                                          <p:attrName>ppt_y</p:attrName>
                                        </p:attrNameLst>
                                      </p:cBhvr>
                                      <p:tavLst>
                                        <p:tav tm="0">
                                          <p:val>
                                            <p:strVal val="#ppt_y-1"/>
                                          </p:val>
                                        </p:tav>
                                        <p:tav tm="100000">
                                          <p:val>
                                            <p:strVal val="#ppt_y-(0.354*#ppt_w-0.172*#ppt_h)"/>
                                          </p:val>
                                        </p:tav>
                                      </p:tavLst>
                                    </p:anim>
                                    <p:anim calcmode="lin" valueType="num">
                                      <p:cBhvr>
                                        <p:cTn id="86" dur="156" decel="50000" autoRev="1" fill="hold">
                                          <p:stCondLst>
                                            <p:cond delay="455"/>
                                          </p:stCondLst>
                                        </p:cTn>
                                        <p:tgtEl>
                                          <p:spTgt spid="16"/>
                                        </p:tgtEl>
                                        <p:attrNameLst>
                                          <p:attrName>ppt_y</p:attrName>
                                        </p:attrNameLst>
                                      </p:cBhvr>
                                      <p:tavLst>
                                        <p:tav tm="0">
                                          <p:val>
                                            <p:strVal val="#ppt_y-(0.354*#ppt_w-0.172*#ppt_h)"/>
                                          </p:val>
                                        </p:tav>
                                        <p:tav tm="100000">
                                          <p:val>
                                            <p:strVal val="#ppt_y-(0.354*#ppt_w-0.172*#ppt_h)-#ppt_h/2"/>
                                          </p:val>
                                        </p:tav>
                                      </p:tavLst>
                                    </p:anim>
                                    <p:anim calcmode="lin" valueType="num">
                                      <p:cBhvr>
                                        <p:cTn id="87" dur="136" fill="hold">
                                          <p:stCondLst>
                                            <p:cond delay="864"/>
                                          </p:stCondLst>
                                        </p:cTn>
                                        <p:tgtEl>
                                          <p:spTgt spid="16"/>
                                        </p:tgtEl>
                                        <p:attrNameLst>
                                          <p:attrName>ppt_y</p:attrName>
                                        </p:attrNameLst>
                                      </p:cBhvr>
                                      <p:tavLst>
                                        <p:tav tm="0">
                                          <p:val>
                                            <p:strVal val="#ppt_y-(0.354*#ppt_w-0.172*#ppt_h)"/>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8" presetClass="emph" presetSubtype="0" fill="hold" grpId="1" nodeType="clickEffect">
                                  <p:stCondLst>
                                    <p:cond delay="0"/>
                                  </p:stCondLst>
                                  <p:iterate type="lt">
                                    <p:tmPct val="0"/>
                                  </p:iterate>
                                  <p:childTnLst>
                                    <p:animRot by="21600000">
                                      <p:cBhvr>
                                        <p:cTn id="91" dur="2000" fill="hold"/>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P spid="16" grpId="0"/>
      <p:bldP spid="16"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CE3A465-AAD3-16BB-F370-2843BC44C015}"/>
              </a:ext>
            </a:extLst>
          </p:cNvPr>
          <p:cNvSpPr txBox="1"/>
          <p:nvPr/>
        </p:nvSpPr>
        <p:spPr>
          <a:xfrm>
            <a:off x="0" y="0"/>
            <a:ext cx="12191999" cy="6858000"/>
          </a:xfrm>
          <a:prstGeom prst="rect">
            <a:avLst/>
          </a:prstGeom>
          <a:solidFill>
            <a:schemeClr val="bg1"/>
          </a:solidFill>
          <a:ln>
            <a:solidFill>
              <a:schemeClr val="bg1"/>
            </a:solidFill>
          </a:ln>
        </p:spPr>
        <p:txBody>
          <a:bodyPr wrap="square" rtlCol="0">
            <a:spAutoFit/>
          </a:bodyPr>
          <a:lstStyle/>
          <a:p>
            <a:endParaRPr lang="en-US"/>
          </a:p>
        </p:txBody>
      </p:sp>
      <p:sp>
        <p:nvSpPr>
          <p:cNvPr id="11" name="Content Placeholder 2">
            <a:extLst>
              <a:ext uri="{FF2B5EF4-FFF2-40B4-BE49-F238E27FC236}">
                <a16:creationId xmlns:a16="http://schemas.microsoft.com/office/drawing/2014/main" id="{DCEE87BC-C315-435C-22DA-BA6895A39532}"/>
              </a:ext>
            </a:extLst>
          </p:cNvPr>
          <p:cNvSpPr>
            <a:spLocks noGrp="1"/>
          </p:cNvSpPr>
          <p:nvPr>
            <p:ph idx="1"/>
          </p:nvPr>
        </p:nvSpPr>
        <p:spPr>
          <a:xfrm>
            <a:off x="838200" y="254833"/>
            <a:ext cx="10515600" cy="1101777"/>
          </a:xfrm>
        </p:spPr>
        <p:txBody>
          <a:bodyPr>
            <a:normAutofit/>
          </a:bodyPr>
          <a:lstStyle/>
          <a:p>
            <a:pPr marL="0" indent="0" algn="ctr">
              <a:buNone/>
            </a:pPr>
            <a:r>
              <a:rPr lang="fa-IR" sz="7000" dirty="0">
                <a:latin typeface="Digi An Bold" panose="02000806080000060004" pitchFamily="2" charset="-78"/>
                <a:cs typeface="Digi An Bold" panose="02000806080000060004" pitchFamily="2" charset="-78"/>
              </a:rPr>
              <a:t>با لطف خدا این درس تموم شد. تا دیداری بعد👋🏻👋🏻</a:t>
            </a:r>
            <a:endParaRPr lang="en-US" sz="7000" dirty="0">
              <a:latin typeface="Digi An Bold" panose="02000806080000060004" pitchFamily="2" charset="-78"/>
              <a:cs typeface="Digi An Bold" panose="02000806080000060004" pitchFamily="2" charset="-78"/>
            </a:endParaRPr>
          </a:p>
        </p:txBody>
      </p:sp>
      <p:pic>
        <p:nvPicPr>
          <p:cNvPr id="13" name="Picture 12">
            <a:extLst>
              <a:ext uri="{FF2B5EF4-FFF2-40B4-BE49-F238E27FC236}">
                <a16:creationId xmlns:a16="http://schemas.microsoft.com/office/drawing/2014/main" id="{78E72684-C27E-D795-56C8-F39FC91835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5120" y="1356611"/>
            <a:ext cx="5501390" cy="5501390"/>
          </a:xfrm>
          <a:prstGeom prst="rect">
            <a:avLst/>
          </a:prstGeom>
        </p:spPr>
      </p:pic>
    </p:spTree>
    <p:extLst>
      <p:ext uri="{BB962C8B-B14F-4D97-AF65-F5344CB8AC3E}">
        <p14:creationId xmlns:p14="http://schemas.microsoft.com/office/powerpoint/2010/main" val="406440909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Office 2013 - 2022 Theme</Template>
  <TotalTime>286</TotalTime>
  <Words>660</Words>
  <Application>Microsoft Office PowerPoint</Application>
  <PresentationFormat>Widescreen</PresentationFormat>
  <Paragraphs>94</Paragraphs>
  <Slides>9</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vt:i4>
      </vt:variant>
    </vt:vector>
  </HeadingPairs>
  <TitlesOfParts>
    <vt:vector size="20" baseType="lpstr">
      <vt:lpstr>A Shekari</vt:lpstr>
      <vt:lpstr>Arial</vt:lpstr>
      <vt:lpstr>Calibri</vt:lpstr>
      <vt:lpstr>Calibri Light</vt:lpstr>
      <vt:lpstr>Cambria Math</vt:lpstr>
      <vt:lpstr>Digi Aisa Bold</vt:lpstr>
      <vt:lpstr>Digi An Bold</vt:lpstr>
      <vt:lpstr>IranNastaliq</vt:lpstr>
      <vt:lpstr>Shabnam</vt:lpstr>
      <vt:lpstr>Vazirmatn Light</vt:lpstr>
      <vt:lpstr>Office Theme</vt:lpstr>
      <vt:lpstr>بسم الله الرحمن الرحیم فصل اول – درس اول  اعداد صحیح و گویا</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فصل اول – اعداد صحیح و گویا</dc:title>
  <dc:creator>amin fattahi</dc:creator>
  <cp:lastModifiedBy>amin fattahi</cp:lastModifiedBy>
  <cp:revision>21</cp:revision>
  <dcterms:created xsi:type="dcterms:W3CDTF">2023-11-03T19:48:02Z</dcterms:created>
  <dcterms:modified xsi:type="dcterms:W3CDTF">2023-11-05T18:35:35Z</dcterms:modified>
</cp:coreProperties>
</file>